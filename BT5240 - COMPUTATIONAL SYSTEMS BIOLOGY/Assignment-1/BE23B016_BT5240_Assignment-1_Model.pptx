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610348-D796-40DC-9E69-91B4014D60E7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1CCC5-94C6-4E96-8BF9-05E602A9F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81CCC5-94C6-4E96-8BF9-05E602A9FE1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199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96C8D-791F-B03D-1611-CDFFDEED4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656AC-D3E3-648E-D11D-05626A9C0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CC0DE-1ED0-7D71-B78D-0EEF6366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2D39-E7BF-EC59-A0EE-C1928E40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F4190-CCB3-2D63-CC20-15E62C2A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69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A6DF-D575-D53B-FE12-FA9EA6C5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49096-EB5E-3F4F-D4D9-A494F666A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57B63-07DE-1B2C-69EC-286FAAB7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6029D-3775-B7F2-9424-8E15747E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247DD-340E-857F-E34A-E9BCFCCC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4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D579A-224A-E596-1AB6-D53FF1EA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49474-F738-1E90-07CC-0052524E7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EBAF3-F38C-EF50-4845-60D940B7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1EF0E-2ADB-68EE-E995-89C17A90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7DF33-0247-EDA6-19C9-5D98376A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1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8636-E8C9-94C7-5DBB-D37F9B0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2556-8EC8-D5DA-0555-B375FFED4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4A37F-A9AE-D660-C94F-B10F7CD66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86797-6CD0-712A-A831-580E704E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DC22E-8A37-C211-ACDE-E7440B049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8120C-85FA-2787-F4A6-BA8EC88B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74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1051-FA33-46C0-E98A-F8285400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2EFB2-9F76-8D65-6352-E04FE406E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44E9B-833B-3347-D1AB-60D84173F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84D038-588C-91DD-F6BD-7FB97C510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F87F3-8409-131C-00CA-21DFC800A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B23F9-3EA3-DD4F-4E78-6AE8D1E7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63D67-85AD-3B15-8DEE-B286A7588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833AD-3D2D-D2D4-0D8D-3725827C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9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EAD0-3ABB-29F1-7DA3-34C8D099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828F7-5C61-9D6D-2772-BAA3EA4EB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C10FB-4460-5583-AFF2-800430323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5FB49-929B-DF10-1500-9DDB08BD9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0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4E782-E53E-ABE4-CB78-8A9227FC5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6412D-0675-6AD8-C89A-E33AFEF0B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97842-7118-7152-1EEC-DADFD7E9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92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93286-8207-65D1-49E0-529FF9A3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78E6D-5011-5990-DA9D-305900E7A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D5EFF-43DE-396A-CBBE-A44C8CF07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C09FA-AB5F-5F09-88E9-A2948D80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EFDE7-6F5A-444C-6B70-614D384D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E456F-31DD-B6F4-150D-C0BAF4963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43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BED4-7198-D21D-46A0-1A4D9371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6EDC4-5B23-7D71-6F59-742F794A4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8ED32-9F56-AA9D-E638-2405233ED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8738E-3B0A-7FA2-33AF-AD4657D4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AF8D1-F200-F234-A16E-24E6ABBC2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B0F5-1327-51A2-C6CC-70EBF498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E960-71E0-B033-288A-229C1512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649FB-0032-C5F6-8AD4-DCE6DA83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7E30-6AC2-AE35-3ABA-ABE4A8048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55203-E031-0989-3943-237302DCE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DA997-9BC0-6C0B-AE0F-7115414D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081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EAB03-05EE-709A-E7D6-08622A66C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AB4B3-F6AB-6CE7-C723-EEEAB9CD2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70489-EE24-F181-6DA9-506305BE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3D79A-077C-65CB-A9CC-ADC4F11B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94332-EEF5-6043-7D1D-2710808EB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48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1F7D9-7FD6-B16E-9794-66F288D7D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8F744-A599-971A-E75E-5C068FE7F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A49E-FD4A-1767-7D4A-CC43220F1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C5FE-5239-4CB4-8EC5-31C9F456234F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3470-16F2-9346-E62C-B357A676C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3A9E-FE33-C022-ABE9-DBAB35FE0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859A1B-C409-480B-A924-F8813F99C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7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nhess.copernicus.org/articles/19/169/2019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0DE766-ED99-5D78-F451-19FE24443E86}"/>
              </a:ext>
            </a:extLst>
          </p:cNvPr>
          <p:cNvSpPr/>
          <p:nvPr/>
        </p:nvSpPr>
        <p:spPr>
          <a:xfrm>
            <a:off x="0" y="0"/>
            <a:ext cx="12192000" cy="52111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Wildfire Propagation Using Cellular Automaton For Fire Management</a:t>
            </a: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9C621-E4FF-C69D-A100-A1D34CAC02C6}"/>
              </a:ext>
            </a:extLst>
          </p:cNvPr>
          <p:cNvSpPr txBox="1"/>
          <p:nvPr/>
        </p:nvSpPr>
        <p:spPr>
          <a:xfrm>
            <a:off x="-24581" y="482863"/>
            <a:ext cx="121920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uses a simple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cellular automaton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rapidly simulate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wildfire propagation in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Mediterranean landscapes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to generate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probabilities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(likelihood of a region burning) that aim to support fire management decisions and resource allocation.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[The well-documented data from the Tavira wildfire (July 2012) was used to refine and modify an existing model, improving its accuracy.]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749C39-385D-FBC6-43D2-487C0BC3ABA4}"/>
              </a:ext>
            </a:extLst>
          </p:cNvPr>
          <p:cNvSpPr/>
          <p:nvPr/>
        </p:nvSpPr>
        <p:spPr>
          <a:xfrm>
            <a:off x="0" y="6339535"/>
            <a:ext cx="12192000" cy="55671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90000" algn="ct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cellular automata to simulate wildfire propagation and to assist in fire management, Nat. Hazards Earth Syst. Sci., 19, 169–179, 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https://doi.org/10.5194/nhess-19-169-2019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A91133-E895-A987-EB25-1B0973F1F7A0}"/>
                  </a:ext>
                </a:extLst>
              </p:cNvPr>
              <p:cNvSpPr txBox="1"/>
              <p:nvPr/>
            </p:nvSpPr>
            <p:spPr>
              <a:xfrm>
                <a:off x="7917426" y="1436886"/>
                <a:ext cx="4188541" cy="149579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marL="28575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𝑏𝑢𝑟𝑛</m:t>
                        </m:r>
                      </m:sub>
                    </m:sSub>
                    <m:r>
                      <a:rPr lang="en-IN" sz="17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IN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7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700" i="1" smtClean="0">
                                <a:latin typeface="Cambria Math" panose="02040503050406030204" pitchFamily="18" charset="0"/>
                              </a:rPr>
                              <m:t>𝑣𝑒𝑔</m:t>
                            </m:r>
                          </m:sub>
                        </m:sSub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IN" sz="17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70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1700" i="1" smtClean="0">
                                <a:latin typeface="Cambria Math" panose="02040503050406030204" pitchFamily="18" charset="0"/>
                              </a:rPr>
                              <m:t>𝑑𝑒𝑛</m:t>
                            </m:r>
                          </m:sub>
                        </m:sSub>
                      </m:e>
                    </m:d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IN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17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1700" dirty="0"/>
              </a:p>
              <a:p>
                <a:endParaRPr lang="en-US" sz="500" dirty="0"/>
              </a:p>
              <a:p>
                <a:pPr marL="28575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700" i="1" dirty="0" smtClean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["/>
                        <m:endChr m:val="]"/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17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7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17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700" i="0" dirty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170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sz="17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500" dirty="0"/>
              </a:p>
              <a:p>
                <a:pPr marL="28575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70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7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sz="17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500" dirty="0"/>
              </a:p>
              <a:p>
                <a:pPr marL="285750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sz="1700" b="0" i="1" dirty="0" smtClean="0">
                        <a:latin typeface="Cambria Math" panose="02040503050406030204" pitchFamily="18" charset="0"/>
                      </a:rPr>
                      <m:t>rc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𝑡𝑎𝑛</m:t>
                    </m:r>
                    <m:d>
                      <m:dPr>
                        <m:begChr m:val="["/>
                        <m:endChr m:val="]"/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7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70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7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7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70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den>
                        </m:f>
                      </m:e>
                    </m:d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A91133-E895-A987-EB25-1B0973F1F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7426" y="1436886"/>
                <a:ext cx="4188541" cy="1495794"/>
              </a:xfrm>
              <a:prstGeom prst="rect">
                <a:avLst/>
              </a:prstGeom>
              <a:blipFill>
                <a:blip r:embed="rId4"/>
                <a:stretch>
                  <a:fillRect l="-290" t="-2024" b="-202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B55D765-420D-38F4-2CA5-00B1556D657A}"/>
              </a:ext>
            </a:extLst>
          </p:cNvPr>
          <p:cNvSpPr txBox="1"/>
          <p:nvPr/>
        </p:nvSpPr>
        <p:spPr>
          <a:xfrm>
            <a:off x="-24581" y="1299126"/>
            <a:ext cx="785597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Aspects of the Model:</a:t>
            </a:r>
          </a:p>
          <a:p>
            <a:pPr marL="90000" indent="-900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 outputs system evolution over time, and explains transient behavior</a:t>
            </a:r>
          </a:p>
          <a:p>
            <a:pPr marL="90000" indent="-900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Discrete-time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uses time steps of 20 minutes (no output between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7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</a:t>
            </a:r>
            <a:r>
              <a:rPr lang="en-US" sz="17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0000" indent="-900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Model is based on mechanistic principles, with explanatory capability</a:t>
            </a:r>
          </a:p>
          <a:p>
            <a:pPr marL="90000" indent="-900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fire spread is probabilistic, same input may produce different outputs</a:t>
            </a:r>
          </a:p>
          <a:p>
            <a:pPr marL="90000" indent="-9000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Single-Scale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single spatial and temporal scale is utilized in this model</a:t>
            </a:r>
            <a:endParaRPr lang="en-IN" sz="17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58B21C-CC76-BBDF-752F-BC8A48958568}"/>
                  </a:ext>
                </a:extLst>
              </p:cNvPr>
              <p:cNvSpPr txBox="1"/>
              <p:nvPr/>
            </p:nvSpPr>
            <p:spPr>
              <a:xfrm>
                <a:off x="0" y="2932680"/>
                <a:ext cx="6499124" cy="3493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Salient Features of the Model:</a:t>
                </a:r>
              </a:p>
              <a:p>
                <a:pPr marL="90000" indent="-9000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landscape was discretized into 100 m × 100 m cells, with key parameters including vegetation type and density, wind fields, and terrain slope angle (temperature, humidity etc. were excluded).</a:t>
                </a:r>
              </a:p>
              <a:p>
                <a:pPr marL="90000" indent="-9000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state of each cell (variable) is updated using predefined state-transition rules,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𝑏𝑢𝑟𝑛</m:t>
                        </m:r>
                      </m:sub>
                    </m:sSub>
                    <m:r>
                      <a:rPr lang="en-US" sz="1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computed</m:t>
                    </m:r>
                  </m:oMath>
                </a14:m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an adjacent cell is burning</a:t>
                </a:r>
              </a:p>
              <a:p>
                <a:pPr marL="90000" indent="-9000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cell that is burning down at present time will be completely burned in the next time step, and once burned, cannot ignite again; additionally, fire spread is influenced by wind, allowing ignition of neighboring and, under strong wind conditions, non-adjacent cells in the wind direction.</a:t>
                </a:r>
              </a:p>
              <a:p>
                <a:pPr marL="90000" indent="-90000"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modified model was validated using remote-sensing hotspot maps, and 100 simulations were used to estimate relative fire susceptibility for each cell, identifying high-risk regions that require critical attention.</a:t>
                </a:r>
                <a:endPara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458B21C-CC76-BBDF-752F-BC8A48958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932680"/>
                <a:ext cx="6499124" cy="3493264"/>
              </a:xfrm>
              <a:prstGeom prst="rect">
                <a:avLst/>
              </a:prstGeom>
              <a:blipFill>
                <a:blip r:embed="rId5"/>
                <a:stretch>
                  <a:fillRect l="-563" t="-349" r="-1313" b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A311ACC-746B-0FC9-3425-5653AAE07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778" y="3019121"/>
            <a:ext cx="2053189" cy="10306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A8B468-F0EF-816C-F27F-0083AFFB40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7" t="322" r="1111" b="50455"/>
          <a:stretch>
            <a:fillRect/>
          </a:stretch>
        </p:blipFill>
        <p:spPr>
          <a:xfrm>
            <a:off x="6768435" y="2989559"/>
            <a:ext cx="1418388" cy="2234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8FA740-24BE-A6E4-996D-649EE35349C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7" t="50778" r="1111" b="-1"/>
          <a:stretch>
            <a:fillRect/>
          </a:stretch>
        </p:blipFill>
        <p:spPr>
          <a:xfrm>
            <a:off x="8365079" y="3019121"/>
            <a:ext cx="1418388" cy="22325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3962B93-406C-2E6B-FA0F-5B100D1E9D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9356" y="5267598"/>
            <a:ext cx="2053189" cy="3070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43A7541-819A-385E-9AA3-5F8DDE2A4BD4}"/>
              </a:ext>
            </a:extLst>
          </p:cNvPr>
          <p:cNvSpPr txBox="1"/>
          <p:nvPr/>
        </p:nvSpPr>
        <p:spPr>
          <a:xfrm>
            <a:off x="6768435" y="5554705"/>
            <a:ext cx="30150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spread in the modified model. The heatmap indicating the percentage of burnt cells.</a:t>
            </a:r>
            <a:endParaRPr lang="en-IN" sz="15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7B8189-E040-3E1D-061F-42732743F1A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420" t="4814" r="7949" b="1484"/>
          <a:stretch>
            <a:fillRect/>
          </a:stretch>
        </p:blipFill>
        <p:spPr>
          <a:xfrm>
            <a:off x="10052778" y="4148845"/>
            <a:ext cx="2053189" cy="11028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26B7843-07C0-8198-8D2D-E2E18FE3D9D9}"/>
              </a:ext>
            </a:extLst>
          </p:cNvPr>
          <p:cNvSpPr txBox="1"/>
          <p:nvPr/>
        </p:nvSpPr>
        <p:spPr>
          <a:xfrm>
            <a:off x="10052777" y="5269232"/>
            <a:ext cx="2053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total burnt cells vs time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active fires, normal and modified models.</a:t>
            </a:r>
          </a:p>
        </p:txBody>
      </p:sp>
    </p:spTree>
    <p:extLst>
      <p:ext uri="{BB962C8B-B14F-4D97-AF65-F5344CB8AC3E}">
        <p14:creationId xmlns:p14="http://schemas.microsoft.com/office/powerpoint/2010/main" val="1914476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398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Varunkumar Krishnakumar</dc:creator>
  <cp:lastModifiedBy>Varunkumar Krishnakumar</cp:lastModifiedBy>
  <cp:revision>13</cp:revision>
  <dcterms:created xsi:type="dcterms:W3CDTF">2026-02-03T15:39:48Z</dcterms:created>
  <dcterms:modified xsi:type="dcterms:W3CDTF">2026-05-30T10:13:14Z</dcterms:modified>
</cp:coreProperties>
</file>