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71" r:id="rId2"/>
    <p:sldId id="258" r:id="rId3"/>
    <p:sldId id="269" r:id="rId4"/>
    <p:sldId id="260" r:id="rId5"/>
    <p:sldId id="261" r:id="rId6"/>
    <p:sldId id="268" r:id="rId7"/>
    <p:sldId id="262" r:id="rId8"/>
    <p:sldId id="263" r:id="rId9"/>
    <p:sldId id="267" r:id="rId10"/>
    <p:sldId id="264" r:id="rId11"/>
    <p:sldId id="270"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FCE9D52-A1CD-42C4-805C-62AFB4222CAE}">
          <p14:sldIdLst>
            <p14:sldId id="271"/>
            <p14:sldId id="258"/>
            <p14:sldId id="269"/>
            <p14:sldId id="260"/>
            <p14:sldId id="261"/>
            <p14:sldId id="268"/>
            <p14:sldId id="262"/>
            <p14:sldId id="263"/>
            <p14:sldId id="267"/>
            <p14:sldId id="264"/>
            <p14:sldId id="270"/>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610348-D796-40DC-9E69-91B4014D60E7}" type="datetimeFigureOut">
              <a:rPr lang="en-IN" smtClean="0"/>
              <a:t>29-04-2026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81CCC5-94C6-4E96-8BF9-05E602A9FE10}" type="slidenum">
              <a:rPr lang="en-IN" smtClean="0"/>
              <a:t>‹#›</a:t>
            </a:fld>
            <a:endParaRPr lang="en-IN"/>
          </a:p>
        </p:txBody>
      </p:sp>
    </p:spTree>
    <p:extLst>
      <p:ext uri="{BB962C8B-B14F-4D97-AF65-F5344CB8AC3E}">
        <p14:creationId xmlns:p14="http://schemas.microsoft.com/office/powerpoint/2010/main" val="228602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81CCC5-94C6-4E96-8BF9-05E602A9FE10}" type="slidenum">
              <a:rPr lang="en-IN" smtClean="0"/>
              <a:t>1</a:t>
            </a:fld>
            <a:endParaRPr lang="en-IN"/>
          </a:p>
        </p:txBody>
      </p:sp>
    </p:spTree>
    <p:extLst>
      <p:ext uri="{BB962C8B-B14F-4D97-AF65-F5344CB8AC3E}">
        <p14:creationId xmlns:p14="http://schemas.microsoft.com/office/powerpoint/2010/main" val="3421199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81CCC5-94C6-4E96-8BF9-05E602A9FE10}" type="slidenum">
              <a:rPr lang="en-IN" smtClean="0"/>
              <a:t>2</a:t>
            </a:fld>
            <a:endParaRPr lang="en-IN"/>
          </a:p>
        </p:txBody>
      </p:sp>
    </p:spTree>
    <p:extLst>
      <p:ext uri="{BB962C8B-B14F-4D97-AF65-F5344CB8AC3E}">
        <p14:creationId xmlns:p14="http://schemas.microsoft.com/office/powerpoint/2010/main" val="342119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A8041-7346-FBF4-AFB2-DE2493A53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B413C0-6A8E-1AFA-7697-DDD1069931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28112-B831-617C-D0E3-9A64024369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27FE88-E1D4-4242-97F5-95453C3F6DEC}"/>
              </a:ext>
            </a:extLst>
          </p:cNvPr>
          <p:cNvSpPr>
            <a:spLocks noGrp="1"/>
          </p:cNvSpPr>
          <p:nvPr>
            <p:ph type="sldNum" sz="quarter" idx="5"/>
          </p:nvPr>
        </p:nvSpPr>
        <p:spPr/>
        <p:txBody>
          <a:bodyPr/>
          <a:lstStyle/>
          <a:p>
            <a:fld id="{4E81CCC5-94C6-4E96-8BF9-05E602A9FE10}" type="slidenum">
              <a:rPr lang="en-IN" smtClean="0"/>
              <a:t>3</a:t>
            </a:fld>
            <a:endParaRPr lang="en-IN"/>
          </a:p>
        </p:txBody>
      </p:sp>
    </p:spTree>
    <p:extLst>
      <p:ext uri="{BB962C8B-B14F-4D97-AF65-F5344CB8AC3E}">
        <p14:creationId xmlns:p14="http://schemas.microsoft.com/office/powerpoint/2010/main" val="3199409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0FDB-8CDB-922E-36D1-10388BF13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82521-B3F3-1F86-CCC3-2074478AC2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E7AC0-8F46-197F-B9CB-99C99C826EE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C1A80C7-27F8-F80D-BEE0-7B7E84115631}"/>
              </a:ext>
            </a:extLst>
          </p:cNvPr>
          <p:cNvSpPr>
            <a:spLocks noGrp="1"/>
          </p:cNvSpPr>
          <p:nvPr>
            <p:ph type="sldNum" sz="quarter" idx="5"/>
          </p:nvPr>
        </p:nvSpPr>
        <p:spPr/>
        <p:txBody>
          <a:bodyPr/>
          <a:lstStyle/>
          <a:p>
            <a:fld id="{4E81CCC5-94C6-4E96-8BF9-05E602A9FE10}" type="slidenum">
              <a:rPr lang="en-IN" smtClean="0"/>
              <a:t>4</a:t>
            </a:fld>
            <a:endParaRPr lang="en-IN"/>
          </a:p>
        </p:txBody>
      </p:sp>
    </p:spTree>
    <p:extLst>
      <p:ext uri="{BB962C8B-B14F-4D97-AF65-F5344CB8AC3E}">
        <p14:creationId xmlns:p14="http://schemas.microsoft.com/office/powerpoint/2010/main" val="1925343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A93A1-AFD3-5007-6FF6-B39E983210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5268F5-BF25-4DFA-1F74-3416BBDFD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C622F5-9DCD-6FE5-A8BE-65B80C41E6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2071E9-1C03-593F-7963-7E7326BC6D4C}"/>
              </a:ext>
            </a:extLst>
          </p:cNvPr>
          <p:cNvSpPr>
            <a:spLocks noGrp="1"/>
          </p:cNvSpPr>
          <p:nvPr>
            <p:ph type="sldNum" sz="quarter" idx="5"/>
          </p:nvPr>
        </p:nvSpPr>
        <p:spPr/>
        <p:txBody>
          <a:bodyPr/>
          <a:lstStyle/>
          <a:p>
            <a:fld id="{4E81CCC5-94C6-4E96-8BF9-05E602A9FE10}" type="slidenum">
              <a:rPr lang="en-IN" smtClean="0"/>
              <a:t>5</a:t>
            </a:fld>
            <a:endParaRPr lang="en-IN"/>
          </a:p>
        </p:txBody>
      </p:sp>
    </p:spTree>
    <p:extLst>
      <p:ext uri="{BB962C8B-B14F-4D97-AF65-F5344CB8AC3E}">
        <p14:creationId xmlns:p14="http://schemas.microsoft.com/office/powerpoint/2010/main" val="257490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A5B73-784C-D89A-9D67-CE1CF70EFC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E5993-F1B4-5B35-9D34-AF81E0148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89E90-49C7-EC64-30C6-51105A2D614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37993E-5979-3A90-2E3E-79206AB80F3D}"/>
              </a:ext>
            </a:extLst>
          </p:cNvPr>
          <p:cNvSpPr>
            <a:spLocks noGrp="1"/>
          </p:cNvSpPr>
          <p:nvPr>
            <p:ph type="sldNum" sz="quarter" idx="5"/>
          </p:nvPr>
        </p:nvSpPr>
        <p:spPr/>
        <p:txBody>
          <a:bodyPr/>
          <a:lstStyle/>
          <a:p>
            <a:fld id="{4E81CCC5-94C6-4E96-8BF9-05E602A9FE10}" type="slidenum">
              <a:rPr lang="en-IN" smtClean="0"/>
              <a:t>6</a:t>
            </a:fld>
            <a:endParaRPr lang="en-IN"/>
          </a:p>
        </p:txBody>
      </p:sp>
    </p:spTree>
    <p:extLst>
      <p:ext uri="{BB962C8B-B14F-4D97-AF65-F5344CB8AC3E}">
        <p14:creationId xmlns:p14="http://schemas.microsoft.com/office/powerpoint/2010/main" val="8005097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0FB8F-702F-A341-BCC9-7603C0242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CA54F-A892-5641-3F96-C7E48BA00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41618-41F1-75D5-7C9C-843D08BEACB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6D1486A-3F5D-E2D6-BBAB-66059086BCE9}"/>
              </a:ext>
            </a:extLst>
          </p:cNvPr>
          <p:cNvSpPr>
            <a:spLocks noGrp="1"/>
          </p:cNvSpPr>
          <p:nvPr>
            <p:ph type="sldNum" sz="quarter" idx="5"/>
          </p:nvPr>
        </p:nvSpPr>
        <p:spPr/>
        <p:txBody>
          <a:bodyPr/>
          <a:lstStyle/>
          <a:p>
            <a:fld id="{4E81CCC5-94C6-4E96-8BF9-05E602A9FE10}" type="slidenum">
              <a:rPr lang="en-IN" smtClean="0"/>
              <a:t>7</a:t>
            </a:fld>
            <a:endParaRPr lang="en-IN"/>
          </a:p>
        </p:txBody>
      </p:sp>
    </p:spTree>
    <p:extLst>
      <p:ext uri="{BB962C8B-B14F-4D97-AF65-F5344CB8AC3E}">
        <p14:creationId xmlns:p14="http://schemas.microsoft.com/office/powerpoint/2010/main" val="3388816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98FE3-5F08-CA27-85C2-8F7C3C9EC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9C5DA-8A5A-6B4D-E84C-090B0B1BE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041E1-0813-174C-571E-C6828C3E122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1A87B5-8838-54A0-AF65-B9D9DEA86E7D}"/>
              </a:ext>
            </a:extLst>
          </p:cNvPr>
          <p:cNvSpPr>
            <a:spLocks noGrp="1"/>
          </p:cNvSpPr>
          <p:nvPr>
            <p:ph type="sldNum" sz="quarter" idx="5"/>
          </p:nvPr>
        </p:nvSpPr>
        <p:spPr/>
        <p:txBody>
          <a:bodyPr/>
          <a:lstStyle/>
          <a:p>
            <a:fld id="{4E81CCC5-94C6-4E96-8BF9-05E602A9FE10}" type="slidenum">
              <a:rPr lang="en-IN" smtClean="0"/>
              <a:t>8</a:t>
            </a:fld>
            <a:endParaRPr lang="en-IN"/>
          </a:p>
        </p:txBody>
      </p:sp>
    </p:spTree>
    <p:extLst>
      <p:ext uri="{BB962C8B-B14F-4D97-AF65-F5344CB8AC3E}">
        <p14:creationId xmlns:p14="http://schemas.microsoft.com/office/powerpoint/2010/main" val="2089667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EDC0D-D38F-BDB5-3FE5-527BB4710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1310D-8BEA-4FFF-906F-CFF7EEEB03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BF8C4-C6F7-1F9D-0265-12527BBB8C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325320F-75BB-7F47-36E3-5F535855917F}"/>
              </a:ext>
            </a:extLst>
          </p:cNvPr>
          <p:cNvSpPr>
            <a:spLocks noGrp="1"/>
          </p:cNvSpPr>
          <p:nvPr>
            <p:ph type="sldNum" sz="quarter" idx="5"/>
          </p:nvPr>
        </p:nvSpPr>
        <p:spPr/>
        <p:txBody>
          <a:bodyPr/>
          <a:lstStyle/>
          <a:p>
            <a:fld id="{4E81CCC5-94C6-4E96-8BF9-05E602A9FE10}" type="slidenum">
              <a:rPr lang="en-IN" smtClean="0"/>
              <a:t>9</a:t>
            </a:fld>
            <a:endParaRPr lang="en-IN"/>
          </a:p>
        </p:txBody>
      </p:sp>
    </p:spTree>
    <p:extLst>
      <p:ext uri="{BB962C8B-B14F-4D97-AF65-F5344CB8AC3E}">
        <p14:creationId xmlns:p14="http://schemas.microsoft.com/office/powerpoint/2010/main" val="2917504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63DB5-516E-953C-E61C-50734BBED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F9D88-410B-03CF-F3D2-28CEAA383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26A87-22BD-AB31-1FB2-EC9BEC7FBA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E5AB1A5-0041-EFE0-966A-B9BB11CABE6A}"/>
              </a:ext>
            </a:extLst>
          </p:cNvPr>
          <p:cNvSpPr>
            <a:spLocks noGrp="1"/>
          </p:cNvSpPr>
          <p:nvPr>
            <p:ph type="sldNum" sz="quarter" idx="5"/>
          </p:nvPr>
        </p:nvSpPr>
        <p:spPr/>
        <p:txBody>
          <a:bodyPr/>
          <a:lstStyle/>
          <a:p>
            <a:fld id="{4E81CCC5-94C6-4E96-8BF9-05E602A9FE10}" type="slidenum">
              <a:rPr lang="en-IN" smtClean="0"/>
              <a:t>10</a:t>
            </a:fld>
            <a:endParaRPr lang="en-IN"/>
          </a:p>
        </p:txBody>
      </p:sp>
    </p:spTree>
    <p:extLst>
      <p:ext uri="{BB962C8B-B14F-4D97-AF65-F5344CB8AC3E}">
        <p14:creationId xmlns:p14="http://schemas.microsoft.com/office/powerpoint/2010/main" val="851507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55D97-66AC-A408-4263-E3B32B87E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C13B9-340F-116A-EEC6-1DC3DB12A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63AD4B-1BA4-B8F0-696B-38FD0DC0540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A829E4F-0019-DD32-ADD3-5A014BCAE9C0}"/>
              </a:ext>
            </a:extLst>
          </p:cNvPr>
          <p:cNvSpPr>
            <a:spLocks noGrp="1"/>
          </p:cNvSpPr>
          <p:nvPr>
            <p:ph type="sldNum" sz="quarter" idx="5"/>
          </p:nvPr>
        </p:nvSpPr>
        <p:spPr/>
        <p:txBody>
          <a:bodyPr/>
          <a:lstStyle/>
          <a:p>
            <a:fld id="{4E81CCC5-94C6-4E96-8BF9-05E602A9FE10}" type="slidenum">
              <a:rPr lang="en-IN" smtClean="0"/>
              <a:t>11</a:t>
            </a:fld>
            <a:endParaRPr lang="en-IN"/>
          </a:p>
        </p:txBody>
      </p:sp>
    </p:spTree>
    <p:extLst>
      <p:ext uri="{BB962C8B-B14F-4D97-AF65-F5344CB8AC3E}">
        <p14:creationId xmlns:p14="http://schemas.microsoft.com/office/powerpoint/2010/main" val="2755850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3FB8D-6968-BF89-E7E5-4FC7FCF05E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25C7E-28E8-3DB7-8F9D-9FBC34CCC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DF3573-A062-028F-F4DC-A97AFC3160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857ED1-DA0B-EFF3-A0C1-9A50AD2F9421}"/>
              </a:ext>
            </a:extLst>
          </p:cNvPr>
          <p:cNvSpPr>
            <a:spLocks noGrp="1"/>
          </p:cNvSpPr>
          <p:nvPr>
            <p:ph type="sldNum" sz="quarter" idx="5"/>
          </p:nvPr>
        </p:nvSpPr>
        <p:spPr/>
        <p:txBody>
          <a:bodyPr/>
          <a:lstStyle/>
          <a:p>
            <a:fld id="{4E81CCC5-94C6-4E96-8BF9-05E602A9FE10}" type="slidenum">
              <a:rPr lang="en-IN" smtClean="0"/>
              <a:t>12</a:t>
            </a:fld>
            <a:endParaRPr lang="en-IN"/>
          </a:p>
        </p:txBody>
      </p:sp>
    </p:spTree>
    <p:extLst>
      <p:ext uri="{BB962C8B-B14F-4D97-AF65-F5344CB8AC3E}">
        <p14:creationId xmlns:p14="http://schemas.microsoft.com/office/powerpoint/2010/main" val="1130301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96C8D-791F-B03D-1611-CDFFDEED43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3656AC-D3E3-648E-D11D-05626A9C0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8CC0DE-1ED0-7D71-B78D-0EEF63663C41}"/>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F1302D39-E7BF-EC59-A0EE-C1928E40C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AF4190-CCB3-2D63-CC20-15E62C2A41CF}"/>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165169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A6DF-D575-D53B-FE12-FA9EA6C5E0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349096-EB5E-3F4F-D4D9-A494F666A6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57B63-07DE-1B2C-69EC-286FAAB764F1}"/>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AE66029D-3775-B7F2-9424-8E15747EBE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A247DD-340E-857F-E34A-E9BCFCCC9DE3}"/>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2027243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D579A-224A-E596-1AB6-D53FF1EA54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249474-F738-1E90-07CC-0052524E7C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1EBAF3-F38C-EF50-4845-60D940B75459}"/>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16A1EF0E-2ADB-68EE-E995-89C17A90C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97DF33-0247-EDA6-19C9-5D98376A4041}"/>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1784102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B8636-E8C9-94C7-5DBB-D37F9B0C0E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E82556-8EC8-D5DA-0555-B375FFED4C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B4A37F-A9AE-D660-C94F-B10F7CD666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B86797-6CD0-712A-A831-580E704EB494}"/>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6" name="Footer Placeholder 5">
            <a:extLst>
              <a:ext uri="{FF2B5EF4-FFF2-40B4-BE49-F238E27FC236}">
                <a16:creationId xmlns:a16="http://schemas.microsoft.com/office/drawing/2014/main" id="{150DC22E-8A37-C211-ACDE-E7440B049F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B8120C-85FA-2787-F4A6-BA8EC88BFA23}"/>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4253745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1051-FA33-46C0-E98A-F8285400415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4D2EFB2-9F76-8D65-6352-E04FE406EE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444E9B-833B-3347-D1AB-60D84173FA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84D038-588C-91DD-F6BD-7FB97C510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1F87F3-8409-131C-00CA-21DFC800A8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9B23F9-3EA3-DD4F-4E78-6AE8D1E72BB1}"/>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8" name="Footer Placeholder 7">
            <a:extLst>
              <a:ext uri="{FF2B5EF4-FFF2-40B4-BE49-F238E27FC236}">
                <a16:creationId xmlns:a16="http://schemas.microsoft.com/office/drawing/2014/main" id="{C0D63D67-85AD-3B15-8DEE-B286A75883F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8833AD-3D2D-D2D4-0D8D-3725827C1897}"/>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330094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2EAD0-3ABB-29F1-7DA3-34C8D09914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5828F7-5C61-9D6D-2772-BAA3EA4EB588}"/>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4" name="Footer Placeholder 3">
            <a:extLst>
              <a:ext uri="{FF2B5EF4-FFF2-40B4-BE49-F238E27FC236}">
                <a16:creationId xmlns:a16="http://schemas.microsoft.com/office/drawing/2014/main" id="{073C10FB-4460-5583-AFF2-8004303237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F5FB49-929B-DF10-1500-9DDB08BD936D}"/>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3025802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34E782-E53E-ABE4-CB78-8A9227FC5954}"/>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3" name="Footer Placeholder 2">
            <a:extLst>
              <a:ext uri="{FF2B5EF4-FFF2-40B4-BE49-F238E27FC236}">
                <a16:creationId xmlns:a16="http://schemas.microsoft.com/office/drawing/2014/main" id="{3C86412D-0675-6AD8-C89A-E33AFEF0BE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2497842-7118-7152-1EEC-DADFD7E91493}"/>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1662928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3286-8207-65D1-49E0-529FF9A397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9B78E6D-5011-5990-DA9D-305900E7A4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26D5EFF-43DE-396A-CBBE-A44C8CF07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C09FA-AB5F-5F09-88E9-A2948D80570D}"/>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6" name="Footer Placeholder 5">
            <a:extLst>
              <a:ext uri="{FF2B5EF4-FFF2-40B4-BE49-F238E27FC236}">
                <a16:creationId xmlns:a16="http://schemas.microsoft.com/office/drawing/2014/main" id="{3A5EFDE7-6F5A-444C-6B70-614D384D09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FE456F-31DD-B6F4-150D-C0BAF4963653}"/>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1972443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FBED4-7198-D21D-46A0-1A4D9371D8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EC6EDC4-5B23-7D71-6F59-742F794A42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68ED32-9F56-AA9D-E638-2405233EDD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D8738E-3B0A-7FA2-33AF-AD4657D41D95}"/>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6" name="Footer Placeholder 5">
            <a:extLst>
              <a:ext uri="{FF2B5EF4-FFF2-40B4-BE49-F238E27FC236}">
                <a16:creationId xmlns:a16="http://schemas.microsoft.com/office/drawing/2014/main" id="{DD6AF8D1-F200-F234-A16E-24E6ABBC2F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3CB0F5-1327-51A2-C6CC-70EBF498DC9C}"/>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314000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8E960-71E0-B033-288A-229C1512D4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3649FB-0032-C5F6-8AD4-DCE6DA831E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077E30-6AC2-AE35-3ABA-ABE4A80481E7}"/>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C4655203-E031-0989-3943-237302DCE7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BDA997-9BC0-6C0B-AE0F-7115414D2008}"/>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3977081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BEAB03-05EE-709A-E7D6-08622A66CA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7AB4B3-F6AB-6CE7-C723-EEEAB9CD25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D70489-EE24-F181-6DA9-506305BEE063}"/>
              </a:ext>
            </a:extLst>
          </p:cNvPr>
          <p:cNvSpPr>
            <a:spLocks noGrp="1"/>
          </p:cNvSpPr>
          <p:nvPr>
            <p:ph type="dt" sz="half" idx="10"/>
          </p:nvPr>
        </p:nvSpPr>
        <p:spPr/>
        <p:txBody>
          <a:body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99E3D79A-077C-65CB-A9CC-ADC4F11BE2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D94332-EEF5-6043-7D1D-2710808EBC90}"/>
              </a:ext>
            </a:extLst>
          </p:cNvPr>
          <p:cNvSpPr>
            <a:spLocks noGrp="1"/>
          </p:cNvSpPr>
          <p:nvPr>
            <p:ph type="sldNum" sz="quarter" idx="12"/>
          </p:nvPr>
        </p:nvSpPr>
        <p:spPr/>
        <p:txBody>
          <a:bodyPr/>
          <a:lstStyle/>
          <a:p>
            <a:fld id="{7B859A1B-C409-480B-A924-F8813F99CEC3}" type="slidenum">
              <a:rPr lang="en-IN" smtClean="0"/>
              <a:t>‹#›</a:t>
            </a:fld>
            <a:endParaRPr lang="en-IN"/>
          </a:p>
        </p:txBody>
      </p:sp>
    </p:spTree>
    <p:extLst>
      <p:ext uri="{BB962C8B-B14F-4D97-AF65-F5344CB8AC3E}">
        <p14:creationId xmlns:p14="http://schemas.microsoft.com/office/powerpoint/2010/main" val="800488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01F7D9-7FD6-B16E-9794-66F288D7D7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58F744-A599-971A-E75E-5C068FE7F5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EEA49E-FD4A-1767-7D4A-CC43220F1E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FAC5FE-5239-4CB4-8EC5-31C9F456234F}" type="datetimeFigureOut">
              <a:rPr lang="en-IN" smtClean="0"/>
              <a:t>29-04-2026</a:t>
            </a:fld>
            <a:endParaRPr lang="en-IN"/>
          </a:p>
        </p:txBody>
      </p:sp>
      <p:sp>
        <p:nvSpPr>
          <p:cNvPr id="5" name="Footer Placeholder 4">
            <a:extLst>
              <a:ext uri="{FF2B5EF4-FFF2-40B4-BE49-F238E27FC236}">
                <a16:creationId xmlns:a16="http://schemas.microsoft.com/office/drawing/2014/main" id="{D2363470-16F2-9346-E62C-B357A676C4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EB33A9E-FE33-C022-ABE9-DBAB35FE0D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59A1B-C409-480B-A924-F8813F99CEC3}" type="slidenum">
              <a:rPr lang="en-IN" smtClean="0"/>
              <a:t>‹#›</a:t>
            </a:fld>
            <a:endParaRPr lang="en-IN"/>
          </a:p>
        </p:txBody>
      </p:sp>
    </p:spTree>
    <p:extLst>
      <p:ext uri="{BB962C8B-B14F-4D97-AF65-F5344CB8AC3E}">
        <p14:creationId xmlns:p14="http://schemas.microsoft.com/office/powerpoint/2010/main" val="196978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0DE766-ED99-5D78-F451-19FE24443E86}"/>
              </a:ext>
            </a:extLst>
          </p:cNvPr>
          <p:cNvSpPr/>
          <p:nvPr/>
        </p:nvSpPr>
        <p:spPr>
          <a:xfrm>
            <a:off x="0" y="-2"/>
            <a:ext cx="12192000" cy="1730479"/>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4000" b="1" u="sng" dirty="0">
                <a:solidFill>
                  <a:schemeClr val="bg1"/>
                </a:solidFill>
                <a:latin typeface="Times New Roman" panose="02020603050405020304" pitchFamily="18" charset="0"/>
                <a:cs typeface="Times New Roman" panose="02020603050405020304" pitchFamily="18" charset="0"/>
              </a:rPr>
              <a:t>Balance-Sheet Based Network Analysis</a:t>
            </a:r>
          </a:p>
          <a:p>
            <a:pPr algn="ctr"/>
            <a:r>
              <a:rPr lang="en-US" sz="4000" b="1" u="sng" dirty="0">
                <a:solidFill>
                  <a:schemeClr val="bg1"/>
                </a:solidFill>
                <a:latin typeface="Times New Roman" panose="02020603050405020304" pitchFamily="18" charset="0"/>
                <a:cs typeface="Times New Roman" panose="02020603050405020304" pitchFamily="18" charset="0"/>
              </a:rPr>
              <a:t>Of the Indian Banking System</a:t>
            </a:r>
            <a:endParaRPr lang="en-IN" sz="4000" b="1" u="sng"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D0917EF3-AC55-ADEA-F8EB-CEBFEAD92A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50" y="1908504"/>
            <a:ext cx="4077269" cy="48107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TextBox 9">
            <a:extLst>
              <a:ext uri="{FF2B5EF4-FFF2-40B4-BE49-F238E27FC236}">
                <a16:creationId xmlns:a16="http://schemas.microsoft.com/office/drawing/2014/main" id="{22158617-5706-FA15-2D3D-265F5574E1DE}"/>
              </a:ext>
            </a:extLst>
          </p:cNvPr>
          <p:cNvSpPr txBox="1"/>
          <p:nvPr/>
        </p:nvSpPr>
        <p:spPr>
          <a:xfrm>
            <a:off x="4407567" y="6157086"/>
            <a:ext cx="4095993" cy="646331"/>
          </a:xfrm>
          <a:prstGeom prst="rect">
            <a:avLst/>
          </a:prstGeom>
          <a:noFill/>
        </p:spPr>
        <p:txBody>
          <a:bodyPr wrap="none" rtlCol="0">
            <a:spAutoFit/>
          </a:bodyPr>
          <a:lstStyle/>
          <a:p>
            <a:pPr algn="ctr"/>
            <a:r>
              <a:rPr lang="en-IN" b="1" dirty="0" err="1">
                <a:latin typeface="Times New Roman" panose="02020603050405020304" pitchFamily="18" charset="0"/>
                <a:cs typeface="Times New Roman" panose="02020603050405020304" pitchFamily="18" charset="0"/>
              </a:rPr>
              <a:t>K.Varunkumar</a:t>
            </a:r>
            <a:r>
              <a:rPr lang="en-IN" b="1" dirty="0">
                <a:latin typeface="Times New Roman" panose="02020603050405020304" pitchFamily="18" charset="0"/>
                <a:cs typeface="Times New Roman" panose="02020603050405020304" pitchFamily="18" charset="0"/>
              </a:rPr>
              <a:t> (BE23B016)</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Sidharth Balaji Sridharan (BS23B008) </a:t>
            </a:r>
          </a:p>
        </p:txBody>
      </p:sp>
      <p:sp>
        <p:nvSpPr>
          <p:cNvPr id="17" name="TextBox 16">
            <a:extLst>
              <a:ext uri="{FF2B5EF4-FFF2-40B4-BE49-F238E27FC236}">
                <a16:creationId xmlns:a16="http://schemas.microsoft.com/office/drawing/2014/main" id="{539BE871-F3BA-93EF-2391-E1F2CD919F33}"/>
              </a:ext>
            </a:extLst>
          </p:cNvPr>
          <p:cNvSpPr txBox="1"/>
          <p:nvPr/>
        </p:nvSpPr>
        <p:spPr>
          <a:xfrm>
            <a:off x="9233278" y="6157085"/>
            <a:ext cx="2806100" cy="646331"/>
          </a:xfrm>
          <a:prstGeom prst="rect">
            <a:avLst/>
          </a:prstGeom>
          <a:noFill/>
        </p:spPr>
        <p:txBody>
          <a:bodyPr wrap="square">
            <a:spAutoFit/>
          </a:bodyPr>
          <a:lstStyle/>
          <a:p>
            <a:pPr algn="ctr"/>
            <a:r>
              <a:rPr lang="en-IN" b="1" u="sng" dirty="0">
                <a:latin typeface="Times New Roman" panose="02020603050405020304" pitchFamily="18" charset="0"/>
                <a:cs typeface="Times New Roman" panose="02020603050405020304" pitchFamily="18" charset="0"/>
              </a:rPr>
              <a:t>Course Instructor</a:t>
            </a:r>
            <a:r>
              <a:rPr lang="en-IN" b="1" dirty="0">
                <a:latin typeface="Times New Roman" panose="02020603050405020304" pitchFamily="18" charset="0"/>
                <a:cs typeface="Times New Roman" panose="02020603050405020304" pitchFamily="18" charset="0"/>
              </a:rPr>
              <a:t>:</a:t>
            </a:r>
          </a:p>
          <a:p>
            <a:pPr algn="ctr"/>
            <a:r>
              <a:rPr lang="en-IN" b="1" dirty="0">
                <a:latin typeface="Times New Roman" panose="02020603050405020304" pitchFamily="18" charset="0"/>
                <a:cs typeface="Times New Roman" panose="02020603050405020304" pitchFamily="18" charset="0"/>
              </a:rPr>
              <a:t> Professor Karthik Raman</a:t>
            </a:r>
          </a:p>
        </p:txBody>
      </p:sp>
      <p:pic>
        <p:nvPicPr>
          <p:cNvPr id="24" name="Picture 23">
            <a:extLst>
              <a:ext uri="{FF2B5EF4-FFF2-40B4-BE49-F238E27FC236}">
                <a16:creationId xmlns:a16="http://schemas.microsoft.com/office/drawing/2014/main" id="{0483FBE0-3403-5D1F-6197-1B73CB03D79A}"/>
              </a:ext>
            </a:extLst>
          </p:cNvPr>
          <p:cNvPicPr>
            <a:picLocks noChangeAspect="1"/>
          </p:cNvPicPr>
          <p:nvPr/>
        </p:nvPicPr>
        <p:blipFill>
          <a:blip r:embed="rId4"/>
          <a:stretch>
            <a:fillRect/>
          </a:stretch>
        </p:blipFill>
        <p:spPr>
          <a:xfrm>
            <a:off x="4407567" y="1908503"/>
            <a:ext cx="7631811" cy="40990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8799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0DE766-ED99-5D78-F451-19FE24443E86}"/>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Objectives (Slide 1)</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5749C39-385D-FBC6-43D2-487C0BC3ABA4}"/>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r>
              <a:rPr lang="en-US" sz="1600" dirty="0">
                <a:solidFill>
                  <a:schemeClr val="bg1"/>
                </a:solidFill>
                <a:latin typeface="Times New Roman" panose="02020603050405020304" pitchFamily="18" charset="0"/>
                <a:cs typeface="Times New Roman" panose="02020603050405020304" pitchFamily="18" charset="0"/>
              </a:rPr>
              <a:t>Jorge A Chan-Lau, </a:t>
            </a:r>
            <a:r>
              <a:rPr lang="en-US" sz="1600" i="1" dirty="0">
                <a:solidFill>
                  <a:schemeClr val="bg1"/>
                </a:solidFill>
                <a:latin typeface="Times New Roman" panose="02020603050405020304" pitchFamily="18" charset="0"/>
                <a:cs typeface="Times New Roman" panose="02020603050405020304" pitchFamily="18" charset="0"/>
              </a:rPr>
              <a:t>Balance Sheet Network Analysis of Too-Connected-to-Fail Risk in Global and Domestic Banking Systems</a:t>
            </a:r>
            <a:r>
              <a:rPr lang="en-US" sz="1600" dirty="0">
                <a:solidFill>
                  <a:schemeClr val="bg1"/>
                </a:solidFill>
                <a:latin typeface="Times New Roman" panose="02020603050405020304" pitchFamily="18" charset="0"/>
                <a:cs typeface="Times New Roman" panose="02020603050405020304" pitchFamily="18" charset="0"/>
              </a:rPr>
              <a:t>, IMF Working Paper, 2010.</a:t>
            </a:r>
          </a:p>
        </p:txBody>
      </p:sp>
      <p:sp>
        <p:nvSpPr>
          <p:cNvPr id="2" name="TextBox 1">
            <a:extLst>
              <a:ext uri="{FF2B5EF4-FFF2-40B4-BE49-F238E27FC236}">
                <a16:creationId xmlns:a16="http://schemas.microsoft.com/office/drawing/2014/main" id="{6D745ACC-75E7-1BE3-7C05-EB588125E6CC}"/>
              </a:ext>
            </a:extLst>
          </p:cNvPr>
          <p:cNvSpPr txBox="1"/>
          <p:nvPr/>
        </p:nvSpPr>
        <p:spPr>
          <a:xfrm>
            <a:off x="117986" y="592179"/>
            <a:ext cx="11956028" cy="2235484"/>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Banking systems are messy, complex networks that involve several institutions operating at different volumetric and temporal scales. Due to the inherent complexity of this system, it is challenging to </a:t>
            </a:r>
            <a:r>
              <a:rPr lang="en-US" dirty="0">
                <a:latin typeface="Times New Roman" panose="02020603050405020304" pitchFamily="18" charset="0"/>
                <a:cs typeface="Times New Roman" panose="02020603050405020304" pitchFamily="18" charset="0"/>
              </a:rPr>
              <a:t>predict when failures will occur with confidence</a:t>
            </a:r>
            <a:r>
              <a:rPr lang="en-IN" dirty="0">
                <a:latin typeface="Times New Roman" panose="02020603050405020304" pitchFamily="18" charset="0"/>
                <a:cs typeface="Times New Roman" panose="02020603050405020304" pitchFamily="18" charset="0"/>
              </a:rPr>
              <a:t>.</a:t>
            </a:r>
          </a:p>
          <a:p>
            <a:pPr>
              <a:lnSpc>
                <a:spcPct val="150000"/>
              </a:lnSpc>
            </a:pPr>
            <a:endParaRPr lang="en-IN" sz="500"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To reduce the problem to a more manageable scale, economic theory suggests that </a:t>
            </a:r>
            <a:r>
              <a:rPr lang="en-US" dirty="0">
                <a:latin typeface="Times New Roman" panose="02020603050405020304" pitchFamily="18" charset="0"/>
                <a:cs typeface="Times New Roman" panose="02020603050405020304" pitchFamily="18" charset="0"/>
              </a:rPr>
              <a:t>banking system failures and the resulting cascades are largely driven by interbank exposures; accordingly, this interbank exposure network forms the fundamental basis for all of our analysis.</a:t>
            </a:r>
          </a:p>
        </p:txBody>
      </p:sp>
      <p:pic>
        <p:nvPicPr>
          <p:cNvPr id="4" name="Picture 3">
            <a:extLst>
              <a:ext uri="{FF2B5EF4-FFF2-40B4-BE49-F238E27FC236}">
                <a16:creationId xmlns:a16="http://schemas.microsoft.com/office/drawing/2014/main" id="{7A876650-D9C8-43A9-F2C8-80D243F9AF70}"/>
              </a:ext>
            </a:extLst>
          </p:cNvPr>
          <p:cNvPicPr>
            <a:picLocks noChangeAspect="1"/>
          </p:cNvPicPr>
          <p:nvPr/>
        </p:nvPicPr>
        <p:blipFill>
          <a:blip r:embed="rId3"/>
          <a:stretch>
            <a:fillRect/>
          </a:stretch>
        </p:blipFill>
        <p:spPr>
          <a:xfrm>
            <a:off x="6166195" y="2683440"/>
            <a:ext cx="5907819" cy="31730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TextBox 6">
            <a:extLst>
              <a:ext uri="{FF2B5EF4-FFF2-40B4-BE49-F238E27FC236}">
                <a16:creationId xmlns:a16="http://schemas.microsoft.com/office/drawing/2014/main" id="{A13837DA-7FCF-7FC0-4C7C-33DEA7FCF4B0}"/>
              </a:ext>
            </a:extLst>
          </p:cNvPr>
          <p:cNvSpPr txBox="1"/>
          <p:nvPr/>
        </p:nvSpPr>
        <p:spPr>
          <a:xfrm>
            <a:off x="117986" y="2845543"/>
            <a:ext cx="6184491" cy="2951064"/>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main objectives of this project are as follows: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analyze the Indian banking system using an improved version of the balance sheet-based network model proposed by Jorge A. Chan-Lau.</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validate our proposed mechanism for financial shocks by examining the 2018 Punjab National Bank crisis, and 2020 YES Bank crisis.</a:t>
            </a:r>
          </a:p>
        </p:txBody>
      </p:sp>
      <p:sp>
        <p:nvSpPr>
          <p:cNvPr id="10" name="TextBox 9">
            <a:extLst>
              <a:ext uri="{FF2B5EF4-FFF2-40B4-BE49-F238E27FC236}">
                <a16:creationId xmlns:a16="http://schemas.microsoft.com/office/drawing/2014/main" id="{B41AB36D-84FC-C8F9-6CDD-B180C38E2C56}"/>
              </a:ext>
            </a:extLst>
          </p:cNvPr>
          <p:cNvSpPr txBox="1"/>
          <p:nvPr/>
        </p:nvSpPr>
        <p:spPr>
          <a:xfrm>
            <a:off x="7238820" y="5970203"/>
            <a:ext cx="376256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 Interbank Exposure Network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1835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FDA9-C5F8-8184-768C-4BA7904663E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A704C21-3CDC-CF6D-DABE-EEB29EC035BB}"/>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Existing Literature/Model (Slide 2)</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8A108DC-BEC8-5FAA-A3AA-079C2B31354A}"/>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r>
              <a:rPr lang="en-US" sz="1600" dirty="0">
                <a:solidFill>
                  <a:schemeClr val="bg1"/>
                </a:solidFill>
                <a:latin typeface="Times New Roman" panose="02020603050405020304" pitchFamily="18" charset="0"/>
                <a:cs typeface="Times New Roman" panose="02020603050405020304" pitchFamily="18" charset="0"/>
              </a:rPr>
              <a:t>Jorge A Chan-Lau, </a:t>
            </a:r>
            <a:r>
              <a:rPr lang="en-US" sz="1600" i="1" dirty="0">
                <a:solidFill>
                  <a:schemeClr val="bg1"/>
                </a:solidFill>
                <a:latin typeface="Times New Roman" panose="02020603050405020304" pitchFamily="18" charset="0"/>
                <a:cs typeface="Times New Roman" panose="02020603050405020304" pitchFamily="18" charset="0"/>
              </a:rPr>
              <a:t>Balance Sheet Network Analysis of Too-Connected-to-Fail Risk in Global and Domestic Banking Systems</a:t>
            </a:r>
            <a:r>
              <a:rPr lang="en-US" sz="1600" dirty="0">
                <a:solidFill>
                  <a:schemeClr val="bg1"/>
                </a:solidFill>
                <a:latin typeface="Times New Roman" panose="02020603050405020304" pitchFamily="18" charset="0"/>
                <a:cs typeface="Times New Roman" panose="02020603050405020304" pitchFamily="18" charset="0"/>
              </a:rPr>
              <a:t>, IMF Working Paper, 2010.</a:t>
            </a:r>
          </a:p>
        </p:txBody>
      </p:sp>
      <p:sp>
        <p:nvSpPr>
          <p:cNvPr id="2" name="TextBox 1">
            <a:extLst>
              <a:ext uri="{FF2B5EF4-FFF2-40B4-BE49-F238E27FC236}">
                <a16:creationId xmlns:a16="http://schemas.microsoft.com/office/drawing/2014/main" id="{AFC44FC5-4D65-D8D1-372D-02F0C6DFD83C}"/>
              </a:ext>
            </a:extLst>
          </p:cNvPr>
          <p:cNvSpPr txBox="1"/>
          <p:nvPr/>
        </p:nvSpPr>
        <p:spPr>
          <a:xfrm>
            <a:off x="117986" y="592179"/>
            <a:ext cx="11956028" cy="873572"/>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balance sheet–based network model proposed by Jorge A. Chan-Lau adopts a simplified and broadly applicable framework, utilizing aggregated balance sheet classes and basic shock propagation rules, as illustrated in Figures 2-4.</a:t>
            </a:r>
          </a:p>
        </p:txBody>
      </p:sp>
      <p:pic>
        <p:nvPicPr>
          <p:cNvPr id="6" name="Picture 5">
            <a:extLst>
              <a:ext uri="{FF2B5EF4-FFF2-40B4-BE49-F238E27FC236}">
                <a16:creationId xmlns:a16="http://schemas.microsoft.com/office/drawing/2014/main" id="{ADB1E575-8289-75B2-855F-9CDBDF06BF61}"/>
              </a:ext>
            </a:extLst>
          </p:cNvPr>
          <p:cNvPicPr>
            <a:picLocks noChangeAspect="1"/>
          </p:cNvPicPr>
          <p:nvPr/>
        </p:nvPicPr>
        <p:blipFill>
          <a:blip r:embed="rId3"/>
          <a:srcRect t="3751" b="4745"/>
          <a:stretch>
            <a:fillRect/>
          </a:stretch>
        </p:blipFill>
        <p:spPr>
          <a:xfrm>
            <a:off x="5124512" y="1586994"/>
            <a:ext cx="2618536" cy="22487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TextBox 7">
            <a:extLst>
              <a:ext uri="{FF2B5EF4-FFF2-40B4-BE49-F238E27FC236}">
                <a16:creationId xmlns:a16="http://schemas.microsoft.com/office/drawing/2014/main" id="{135447B1-78CC-A290-B154-8EE069E3EB9F}"/>
              </a:ext>
            </a:extLst>
          </p:cNvPr>
          <p:cNvSpPr txBox="1"/>
          <p:nvPr/>
        </p:nvSpPr>
        <p:spPr>
          <a:xfrm>
            <a:off x="117986" y="1522901"/>
            <a:ext cx="5024286" cy="2535566"/>
          </a:xfrm>
          <a:prstGeom prst="rect">
            <a:avLst/>
          </a:prstGeom>
          <a:noFill/>
        </p:spPr>
        <p:txBody>
          <a:bodyPr wrap="square" rtlCol="0">
            <a:spAutoFit/>
          </a:bodyPr>
          <a:lstStyle/>
          <a:p>
            <a:pPr>
              <a:lnSpc>
                <a:spcPct val="150000"/>
              </a:lnSpc>
            </a:pPr>
            <a:r>
              <a:rPr lang="en-US" b="1" u="sng" dirty="0">
                <a:latin typeface="Times New Roman" panose="02020603050405020304" pitchFamily="18" charset="0"/>
                <a:cs typeface="Times New Roman" panose="02020603050405020304" pitchFamily="18" charset="0"/>
              </a:rPr>
              <a:t>Advantages of this approach:</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Balance sheets can be readily decomposed into these classes, making the method universally applicable across banking systems.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results are easily interpretable and indicates which banks are most likely to fail in the system.</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8873C15-AFF8-FDD5-BEDB-6C47A4E0CFD8}"/>
              </a:ext>
            </a:extLst>
          </p:cNvPr>
          <p:cNvSpPr txBox="1"/>
          <p:nvPr/>
        </p:nvSpPr>
        <p:spPr>
          <a:xfrm>
            <a:off x="5196903" y="3938566"/>
            <a:ext cx="247375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2: Bank Structure</a:t>
            </a:r>
            <a:endParaRPr lang="en-IN"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C27D1FD5-035C-B5E4-E36B-BB90EF4EFFBD}"/>
              </a:ext>
            </a:extLst>
          </p:cNvPr>
          <p:cNvPicPr>
            <a:picLocks/>
          </p:cNvPicPr>
          <p:nvPr/>
        </p:nvPicPr>
        <p:blipFill>
          <a:blip r:embed="rId4"/>
          <a:stretch>
            <a:fillRect/>
          </a:stretch>
        </p:blipFill>
        <p:spPr>
          <a:xfrm>
            <a:off x="8138090" y="1557248"/>
            <a:ext cx="3960000" cy="16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8" name="TextBox 17">
            <a:extLst>
              <a:ext uri="{FF2B5EF4-FFF2-40B4-BE49-F238E27FC236}">
                <a16:creationId xmlns:a16="http://schemas.microsoft.com/office/drawing/2014/main" id="{8167A1AA-60D1-B096-742B-059E16905B09}"/>
              </a:ext>
            </a:extLst>
          </p:cNvPr>
          <p:cNvSpPr txBox="1"/>
          <p:nvPr/>
        </p:nvSpPr>
        <p:spPr>
          <a:xfrm>
            <a:off x="8970981" y="3268745"/>
            <a:ext cx="229421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3: Credit Shock</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63F4A0C-E63C-E469-DC42-1A7905FAEC69}"/>
              </a:ext>
            </a:extLst>
          </p:cNvPr>
          <p:cNvSpPr txBox="1"/>
          <p:nvPr/>
        </p:nvSpPr>
        <p:spPr>
          <a:xfrm>
            <a:off x="117986" y="4123232"/>
            <a:ext cx="7625062" cy="2120068"/>
          </a:xfrm>
          <a:prstGeom prst="rect">
            <a:avLst/>
          </a:prstGeom>
          <a:noFill/>
        </p:spPr>
        <p:txBody>
          <a:bodyPr wrap="square">
            <a:spAutoFit/>
          </a:bodyPr>
          <a:lstStyle/>
          <a:p>
            <a:pPr>
              <a:lnSpc>
                <a:spcPct val="150000"/>
              </a:lnSpc>
            </a:pPr>
            <a:r>
              <a:rPr lang="en-US" b="1" u="sng" dirty="0">
                <a:latin typeface="Times New Roman" panose="02020603050405020304" pitchFamily="18" charset="0"/>
                <a:cs typeface="Times New Roman" panose="02020603050405020304" pitchFamily="18" charset="0"/>
              </a:rPr>
              <a:t>Drawbacks of this approach:</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broad scope of the model oversimplifies the classification of both assets and </a:t>
            </a:r>
            <a:r>
              <a:rPr lang="en-IN" dirty="0">
                <a:latin typeface="Times New Roman" panose="02020603050405020304" pitchFamily="18" charset="0"/>
                <a:cs typeface="Times New Roman" panose="02020603050405020304" pitchFamily="18" charset="0"/>
              </a:rPr>
              <a:t>liabilities. Nuances in how these different classes are dealt with are lost.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assumption of uniform exposure distribution simplifies the model and broadens its scope, but significantly reduces its accuracy and reliability.</a:t>
            </a:r>
          </a:p>
        </p:txBody>
      </p:sp>
      <p:pic>
        <p:nvPicPr>
          <p:cNvPr id="26" name="Picture 25">
            <a:extLst>
              <a:ext uri="{FF2B5EF4-FFF2-40B4-BE49-F238E27FC236}">
                <a16:creationId xmlns:a16="http://schemas.microsoft.com/office/drawing/2014/main" id="{D335A1AA-D9BE-7B9B-32AD-27251E4D8C33}"/>
              </a:ext>
            </a:extLst>
          </p:cNvPr>
          <p:cNvPicPr>
            <a:picLocks noChangeAspect="1"/>
          </p:cNvPicPr>
          <p:nvPr/>
        </p:nvPicPr>
        <p:blipFill>
          <a:blip r:embed="rId5"/>
          <a:stretch>
            <a:fillRect/>
          </a:stretch>
        </p:blipFill>
        <p:spPr>
          <a:xfrm>
            <a:off x="8138090" y="3938566"/>
            <a:ext cx="3935924" cy="19044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7" name="TextBox 26">
            <a:extLst>
              <a:ext uri="{FF2B5EF4-FFF2-40B4-BE49-F238E27FC236}">
                <a16:creationId xmlns:a16="http://schemas.microsoft.com/office/drawing/2014/main" id="{BCA0FFAF-02F9-9D91-75D3-A28A89A29912}"/>
              </a:ext>
            </a:extLst>
          </p:cNvPr>
          <p:cNvSpPr txBox="1"/>
          <p:nvPr/>
        </p:nvSpPr>
        <p:spPr>
          <a:xfrm>
            <a:off x="8622056" y="5919145"/>
            <a:ext cx="296799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4: Risk Transfer Shock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559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FCCCF-EF5C-44EF-22DE-0C41052AE00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4A5BAF0-C481-16D9-49C0-9A4307B61CB6}"/>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3)</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D45EE8D-E81C-4CD7-63D8-28BFDF3A36F6}"/>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B47B277-DE26-70F4-BF8D-0299FB373A30}"/>
              </a:ext>
            </a:extLst>
          </p:cNvPr>
          <p:cNvPicPr>
            <a:picLocks noChangeAspect="1"/>
          </p:cNvPicPr>
          <p:nvPr/>
        </p:nvPicPr>
        <p:blipFill>
          <a:blip r:embed="rId3"/>
          <a:stretch>
            <a:fillRect/>
          </a:stretch>
        </p:blipFill>
        <p:spPr>
          <a:xfrm>
            <a:off x="5176498" y="614400"/>
            <a:ext cx="2432739" cy="25577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1" name="Picture 10">
            <a:extLst>
              <a:ext uri="{FF2B5EF4-FFF2-40B4-BE49-F238E27FC236}">
                <a16:creationId xmlns:a16="http://schemas.microsoft.com/office/drawing/2014/main" id="{9C225DDB-3F43-DB11-DD7B-7CD4F2DB9A55}"/>
              </a:ext>
            </a:extLst>
          </p:cNvPr>
          <p:cNvPicPr>
            <a:picLocks noChangeAspect="1"/>
          </p:cNvPicPr>
          <p:nvPr/>
        </p:nvPicPr>
        <p:blipFill>
          <a:blip r:embed="rId4"/>
          <a:srcRect l="1438" r="1098"/>
          <a:stretch>
            <a:fillRect/>
          </a:stretch>
        </p:blipFill>
        <p:spPr>
          <a:xfrm>
            <a:off x="8435171" y="3513752"/>
            <a:ext cx="3600000" cy="24476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3" name="Picture 12">
            <a:extLst>
              <a:ext uri="{FF2B5EF4-FFF2-40B4-BE49-F238E27FC236}">
                <a16:creationId xmlns:a16="http://schemas.microsoft.com/office/drawing/2014/main" id="{CF1A7CA8-0532-F19E-0B49-C2744C7284C1}"/>
              </a:ext>
            </a:extLst>
          </p:cNvPr>
          <p:cNvPicPr>
            <a:picLocks noChangeAspect="1"/>
          </p:cNvPicPr>
          <p:nvPr/>
        </p:nvPicPr>
        <p:blipFill>
          <a:blip r:embed="rId5"/>
          <a:stretch>
            <a:fillRect/>
          </a:stretch>
        </p:blipFill>
        <p:spPr>
          <a:xfrm>
            <a:off x="8435171" y="641454"/>
            <a:ext cx="3600000" cy="22726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4" name="TextBox 13">
            <a:extLst>
              <a:ext uri="{FF2B5EF4-FFF2-40B4-BE49-F238E27FC236}">
                <a16:creationId xmlns:a16="http://schemas.microsoft.com/office/drawing/2014/main" id="{D328067E-D8D5-9BBA-7D22-AE00165651EC}"/>
              </a:ext>
            </a:extLst>
          </p:cNvPr>
          <p:cNvSpPr txBox="1"/>
          <p:nvPr/>
        </p:nvSpPr>
        <p:spPr>
          <a:xfrm>
            <a:off x="4697531" y="3222359"/>
            <a:ext cx="339067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5: Proposed Bank Structure</a:t>
            </a:r>
            <a:endParaRPr lang="en-IN"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151BCBFF-5F29-9384-8814-E7FC901C9F52}"/>
              </a:ext>
            </a:extLst>
          </p:cNvPr>
          <p:cNvSpPr txBox="1"/>
          <p:nvPr/>
        </p:nvSpPr>
        <p:spPr>
          <a:xfrm>
            <a:off x="8488505" y="5970203"/>
            <a:ext cx="349332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8: Advances to Other Banks </a:t>
            </a:r>
            <a:endParaRPr lang="en-IN"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B0FCD1D9-88E6-0157-9326-01D546EB27E9}"/>
              </a:ext>
            </a:extLst>
          </p:cNvPr>
          <p:cNvSpPr txBox="1"/>
          <p:nvPr/>
        </p:nvSpPr>
        <p:spPr>
          <a:xfrm>
            <a:off x="8839594" y="2914103"/>
            <a:ext cx="279114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7: Short-Term Assets</a:t>
            </a:r>
            <a:endParaRPr lang="en-IN"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87A8405E-ADFB-47DF-76BE-23CCF0F590D2}"/>
              </a:ext>
            </a:extLst>
          </p:cNvPr>
          <p:cNvPicPr>
            <a:picLocks noChangeAspect="1"/>
          </p:cNvPicPr>
          <p:nvPr/>
        </p:nvPicPr>
        <p:blipFill>
          <a:blip r:embed="rId6"/>
          <a:stretch>
            <a:fillRect/>
          </a:stretch>
        </p:blipFill>
        <p:spPr>
          <a:xfrm>
            <a:off x="4488203" y="3882011"/>
            <a:ext cx="3600000" cy="20793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1" name="TextBox 20">
            <a:extLst>
              <a:ext uri="{FF2B5EF4-FFF2-40B4-BE49-F238E27FC236}">
                <a16:creationId xmlns:a16="http://schemas.microsoft.com/office/drawing/2014/main" id="{0E7920E0-02A2-EF3B-CCCB-27233ADD758F}"/>
              </a:ext>
            </a:extLst>
          </p:cNvPr>
          <p:cNvSpPr txBox="1"/>
          <p:nvPr/>
        </p:nvSpPr>
        <p:spPr>
          <a:xfrm>
            <a:off x="4791639" y="5958860"/>
            <a:ext cx="299312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6: Standard Provisions </a:t>
            </a:r>
            <a:endParaRPr lang="en-IN"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2AA594B-C466-6FE5-C65D-3CA2DD342B93}"/>
              </a:ext>
            </a:extLst>
          </p:cNvPr>
          <p:cNvSpPr txBox="1"/>
          <p:nvPr/>
        </p:nvSpPr>
        <p:spPr>
          <a:xfrm>
            <a:off x="58157" y="631443"/>
            <a:ext cx="4916130" cy="2120068"/>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Since the scope of our model is limited to banks within the Indian banking system, we exploit the fact that these banks have a standardized balance sheet format. We adopt a more realistic structural representation of banks as shown in Figure 5.</a:t>
            </a:r>
          </a:p>
        </p:txBody>
      </p:sp>
      <p:sp>
        <p:nvSpPr>
          <p:cNvPr id="23" name="TextBox 22">
            <a:extLst>
              <a:ext uri="{FF2B5EF4-FFF2-40B4-BE49-F238E27FC236}">
                <a16:creationId xmlns:a16="http://schemas.microsoft.com/office/drawing/2014/main" id="{3DE6BB0C-1EFF-E089-B866-1305687A5086}"/>
              </a:ext>
            </a:extLst>
          </p:cNvPr>
          <p:cNvSpPr txBox="1"/>
          <p:nvPr/>
        </p:nvSpPr>
        <p:spPr>
          <a:xfrm>
            <a:off x="60526" y="2914103"/>
            <a:ext cx="4333568" cy="3366563"/>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Short-term assets are constructed using data from Schedules 6 and 7, while long-term assets are derived from Schedules 8, 10, and 11. General advances and advances to other banks are obtained from the sections illustrated in Figure 8.</a:t>
            </a:r>
          </a:p>
          <a:p>
            <a:pPr>
              <a:lnSpc>
                <a:spcPct val="150000"/>
              </a:lnSpc>
            </a:pPr>
            <a:r>
              <a:rPr lang="en-US" dirty="0">
                <a:latin typeface="Times New Roman" panose="02020603050405020304" pitchFamily="18" charset="0"/>
                <a:cs typeface="Times New Roman" panose="02020603050405020304" pitchFamily="18" charset="0"/>
              </a:rPr>
              <a:t>A similar procedure is followed for the liability side of the balance sheet.</a:t>
            </a:r>
          </a:p>
        </p:txBody>
      </p:sp>
    </p:spTree>
    <p:extLst>
      <p:ext uri="{BB962C8B-B14F-4D97-AF65-F5344CB8AC3E}">
        <p14:creationId xmlns:p14="http://schemas.microsoft.com/office/powerpoint/2010/main" val="2474061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4E2B1-2223-BE66-83EE-5B2BA5CB29F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08CDB88-17B3-5834-0895-250F1B731C63}"/>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4)</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58CBA3D-DD7D-70C5-5749-FACF0FBF3FE4}"/>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448ACB3-3796-4C10-FB37-4F09770C2990}"/>
              </a:ext>
            </a:extLst>
          </p:cNvPr>
          <p:cNvSpPr txBox="1"/>
          <p:nvPr/>
        </p:nvSpPr>
        <p:spPr>
          <a:xfrm>
            <a:off x="108154" y="688709"/>
            <a:ext cx="11995355"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Indian banking network is modeled as a directed network (as shown in Figure 9). Here the nodes represent banks and weighted edges represent interbank exposures.</a:t>
            </a:r>
            <a:endParaRPr lang="en-IN" dirty="0">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01701A6A-8624-2D66-0E18-B2C6D1E275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3509" y="1502639"/>
            <a:ext cx="7200000" cy="40510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129978-6DDE-54A1-A0A5-670A2C09BFB8}"/>
              </a:ext>
            </a:extLst>
          </p:cNvPr>
          <p:cNvSpPr txBox="1"/>
          <p:nvPr/>
        </p:nvSpPr>
        <p:spPr>
          <a:xfrm>
            <a:off x="6113560" y="5721293"/>
            <a:ext cx="477989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9: Interbank Exposure Network (FY 2017)</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C919E5C-CEE1-748A-1591-400AADED34F3}"/>
              </a:ext>
            </a:extLst>
          </p:cNvPr>
          <p:cNvSpPr txBox="1"/>
          <p:nvPr/>
        </p:nvSpPr>
        <p:spPr>
          <a:xfrm>
            <a:off x="108154" y="1502639"/>
            <a:ext cx="4605429"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To estimate interbank exposures, the Advances to Other Banks component is distributed across all other banks in the network using their respective BANKNIFTY index weights.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algorithm used is shown below:</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433F06A-F03C-6A95-691E-9B535E2C14D3}"/>
                  </a:ext>
                </a:extLst>
              </p:cNvPr>
              <p:cNvSpPr txBox="1"/>
              <p:nvPr/>
            </p:nvSpPr>
            <p:spPr>
              <a:xfrm>
                <a:off x="1250541" y="3518681"/>
                <a:ext cx="2936240" cy="80611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𝑖𝑗</m:t>
                          </m:r>
                        </m:sub>
                      </m:sSub>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𝛼</m:t>
                              </m:r>
                            </m:e>
                            <m:sub>
                              <m:r>
                                <a:rPr lang="en-IN" i="1">
                                  <a:latin typeface="Cambria Math" panose="02040503050406030204" pitchFamily="18" charset="0"/>
                                </a:rPr>
                                <m:t>𝑗</m:t>
                              </m:r>
                            </m:sub>
                          </m:sSub>
                        </m:num>
                        <m:den>
                          <m:r>
                            <a:rPr lang="en-IN" i="1">
                              <a:latin typeface="Cambria Math" panose="02040503050406030204" pitchFamily="18" charset="0"/>
                            </a:rPr>
                            <m:t>100−</m:t>
                          </m:r>
                          <m:sSub>
                            <m:sSubPr>
                              <m:ctrlPr>
                                <a:rPr lang="en-IN" i="1">
                                  <a:latin typeface="Cambria Math" panose="02040503050406030204" pitchFamily="18" charset="0"/>
                                </a:rPr>
                              </m:ctrlPr>
                            </m:sSubPr>
                            <m:e>
                              <m:r>
                                <a:rPr lang="en-IN" i="1">
                                  <a:latin typeface="Cambria Math" panose="02040503050406030204" pitchFamily="18" charset="0"/>
                                </a:rPr>
                                <m:t>𝛼</m:t>
                              </m:r>
                            </m:e>
                            <m:sub>
                              <m:r>
                                <a:rPr lang="en-IN" i="1">
                                  <a:latin typeface="Cambria Math" panose="02040503050406030204" pitchFamily="18" charset="0"/>
                                </a:rPr>
                                <m:t>𝑖</m:t>
                              </m:r>
                            </m:sub>
                          </m:sSub>
                        </m:den>
                      </m:f>
                      <m:r>
                        <a:rPr lang="en-IN" i="1">
                          <a:latin typeface="Cambria Math" panose="02040503050406030204" pitchFamily="18" charset="0"/>
                        </a:rPr>
                        <m:t>,  </m:t>
                      </m:r>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oMath>
                  </m:oMathPara>
                </a14:m>
                <a:endParaRPr lang="en-US" dirty="0"/>
              </a:p>
              <a:p>
                <a:endParaRPr lang="en-IN" dirty="0"/>
              </a:p>
            </p:txBody>
          </p:sp>
        </mc:Choice>
        <mc:Fallback xmlns="">
          <p:sp>
            <p:nvSpPr>
              <p:cNvPr id="11" name="TextBox 10">
                <a:extLst>
                  <a:ext uri="{FF2B5EF4-FFF2-40B4-BE49-F238E27FC236}">
                    <a16:creationId xmlns:a16="http://schemas.microsoft.com/office/drawing/2014/main" id="{A433F06A-F03C-6A95-691E-9B535E2C14D3}"/>
                  </a:ext>
                </a:extLst>
              </p:cNvPr>
              <p:cNvSpPr txBox="1">
                <a:spLocks noRot="1" noChangeAspect="1" noMove="1" noResize="1" noEditPoints="1" noAdjustHandles="1" noChangeArrowheads="1" noChangeShapeType="1" noTextEdit="1"/>
              </p:cNvSpPr>
              <p:nvPr/>
            </p:nvSpPr>
            <p:spPr>
              <a:xfrm>
                <a:off x="1250541" y="3518681"/>
                <a:ext cx="2936240" cy="80611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E2B7093-907A-7E2A-1565-AE5EB5244C03}"/>
                  </a:ext>
                </a:extLst>
              </p:cNvPr>
              <p:cNvSpPr txBox="1"/>
              <p:nvPr/>
            </p:nvSpPr>
            <p:spPr>
              <a:xfrm>
                <a:off x="1321661" y="4399640"/>
                <a:ext cx="940707"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𝑟</m:t>
                          </m:r>
                        </m:e>
                        <m:sub>
                          <m:r>
                            <a:rPr lang="en-IN" i="1">
                              <a:latin typeface="Cambria Math" panose="02040503050406030204" pitchFamily="18" charset="0"/>
                            </a:rPr>
                            <m:t>𝑖𝑖</m:t>
                          </m:r>
                        </m:sub>
                      </m:sSub>
                      <m:r>
                        <a:rPr lang="en-IN" i="1">
                          <a:latin typeface="Cambria Math" panose="02040503050406030204" pitchFamily="18" charset="0"/>
                        </a:rPr>
                        <m:t>=0</m:t>
                      </m:r>
                    </m:oMath>
                  </m:oMathPara>
                </a14:m>
                <a:endParaRPr lang="en-US" dirty="0"/>
              </a:p>
              <a:p>
                <a:endParaRPr lang="en-IN" dirty="0"/>
              </a:p>
            </p:txBody>
          </p:sp>
        </mc:Choice>
        <mc:Fallback xmlns="">
          <p:sp>
            <p:nvSpPr>
              <p:cNvPr id="12" name="TextBox 11">
                <a:extLst>
                  <a:ext uri="{FF2B5EF4-FFF2-40B4-BE49-F238E27FC236}">
                    <a16:creationId xmlns:a16="http://schemas.microsoft.com/office/drawing/2014/main" id="{CE2B7093-907A-7E2A-1565-AE5EB5244C03}"/>
                  </a:ext>
                </a:extLst>
              </p:cNvPr>
              <p:cNvSpPr txBox="1">
                <a:spLocks noRot="1" noChangeAspect="1" noMove="1" noResize="1" noEditPoints="1" noAdjustHandles="1" noChangeArrowheads="1" noChangeShapeType="1" noTextEdit="1"/>
              </p:cNvSpPr>
              <p:nvPr/>
            </p:nvSpPr>
            <p:spPr>
              <a:xfrm>
                <a:off x="1321661" y="4399640"/>
                <a:ext cx="940707" cy="553998"/>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9A2D405-60D9-ADA6-2C7E-1DB63FC4269D}"/>
                  </a:ext>
                </a:extLst>
              </p:cNvPr>
              <p:cNvSpPr txBox="1"/>
              <p:nvPr/>
            </p:nvSpPr>
            <p:spPr>
              <a:xfrm>
                <a:off x="1402466" y="5028479"/>
                <a:ext cx="3229837" cy="80611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𝑤</m:t>
                          </m:r>
                        </m:e>
                        <m:sub>
                          <m:r>
                            <a:rPr lang="en-IN" i="1">
                              <a:latin typeface="Cambria Math" panose="02040503050406030204" pitchFamily="18" charset="0"/>
                            </a:rPr>
                            <m:t>𝑖𝑗</m:t>
                          </m:r>
                        </m:sub>
                      </m:sSub>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𝛼</m:t>
                              </m:r>
                            </m:e>
                            <m:sub>
                              <m:r>
                                <a:rPr lang="en-IN" i="1">
                                  <a:latin typeface="Cambria Math" panose="02040503050406030204" pitchFamily="18" charset="0"/>
                                </a:rPr>
                                <m:t>𝑗</m:t>
                              </m:r>
                            </m:sub>
                          </m:sSub>
                        </m:num>
                        <m:den>
                          <m:r>
                            <a:rPr lang="en-IN" i="1">
                              <a:latin typeface="Cambria Math" panose="02040503050406030204" pitchFamily="18" charset="0"/>
                            </a:rPr>
                            <m:t>100−</m:t>
                          </m:r>
                          <m:sSub>
                            <m:sSubPr>
                              <m:ctrlPr>
                                <a:rPr lang="en-IN" i="1">
                                  <a:latin typeface="Cambria Math" panose="02040503050406030204" pitchFamily="18" charset="0"/>
                                </a:rPr>
                              </m:ctrlPr>
                            </m:sSubPr>
                            <m:e>
                              <m:r>
                                <a:rPr lang="en-IN" i="1">
                                  <a:latin typeface="Cambria Math" panose="02040503050406030204" pitchFamily="18" charset="0"/>
                                </a:rPr>
                                <m:t>𝛼</m:t>
                              </m:r>
                            </m:e>
                            <m:sub>
                              <m:r>
                                <a:rPr lang="en-IN" i="1">
                                  <a:latin typeface="Cambria Math" panose="02040503050406030204" pitchFamily="18" charset="0"/>
                                </a:rPr>
                                <m:t>𝑖</m:t>
                              </m:r>
                            </m:sub>
                          </m:sSub>
                        </m:den>
                      </m:f>
                      <m:r>
                        <a:rPr lang="en-IN" i="1">
                          <a:latin typeface="Cambria Math" panose="02040503050406030204" pitchFamily="18" charset="0"/>
                        </a:rPr>
                        <m:t>⋅</m:t>
                      </m:r>
                      <m:r>
                        <a:rPr lang="en-IN" i="1">
                          <a:latin typeface="Cambria Math" panose="02040503050406030204" pitchFamily="18" charset="0"/>
                        </a:rPr>
                        <m:t>𝐴𝑇</m:t>
                      </m:r>
                      <m:sSub>
                        <m:sSubPr>
                          <m:ctrlPr>
                            <a:rPr lang="en-IN" i="1">
                              <a:latin typeface="Cambria Math" panose="02040503050406030204" pitchFamily="18" charset="0"/>
                            </a:rPr>
                          </m:ctrlPr>
                        </m:sSubPr>
                        <m:e>
                          <m:r>
                            <a:rPr lang="en-IN" i="1">
                              <a:latin typeface="Cambria Math" panose="02040503050406030204" pitchFamily="18" charset="0"/>
                            </a:rPr>
                            <m:t>𝐵</m:t>
                          </m:r>
                        </m:e>
                        <m:sub>
                          <m:r>
                            <a:rPr lang="en-IN" i="1">
                              <a:latin typeface="Cambria Math" panose="02040503050406030204" pitchFamily="18" charset="0"/>
                            </a:rPr>
                            <m:t>𝑖</m:t>
                          </m:r>
                        </m:sub>
                      </m:sSub>
                      <m:r>
                        <a:rPr lang="en-IN" i="1">
                          <a:latin typeface="Cambria Math" panose="02040503050406030204" pitchFamily="18" charset="0"/>
                        </a:rPr>
                        <m:t>,  </m:t>
                      </m:r>
                      <m:r>
                        <a:rPr lang="en-IN" i="1">
                          <a:latin typeface="Cambria Math" panose="02040503050406030204" pitchFamily="18" charset="0"/>
                        </a:rPr>
                        <m:t>𝑖</m:t>
                      </m:r>
                      <m:r>
                        <a:rPr lang="en-IN" i="1">
                          <a:latin typeface="Cambria Math" panose="02040503050406030204" pitchFamily="18" charset="0"/>
                        </a:rPr>
                        <m:t>≠</m:t>
                      </m:r>
                      <m:r>
                        <a:rPr lang="en-IN" i="1">
                          <a:latin typeface="Cambria Math" panose="02040503050406030204" pitchFamily="18" charset="0"/>
                        </a:rPr>
                        <m:t>𝑗</m:t>
                      </m:r>
                    </m:oMath>
                  </m:oMathPara>
                </a14:m>
                <a:endParaRPr lang="en-US" dirty="0"/>
              </a:p>
              <a:p>
                <a:endParaRPr lang="en-IN" dirty="0"/>
              </a:p>
            </p:txBody>
          </p:sp>
        </mc:Choice>
        <mc:Fallback xmlns="">
          <p:sp>
            <p:nvSpPr>
              <p:cNvPr id="14" name="TextBox 13">
                <a:extLst>
                  <a:ext uri="{FF2B5EF4-FFF2-40B4-BE49-F238E27FC236}">
                    <a16:creationId xmlns:a16="http://schemas.microsoft.com/office/drawing/2014/main" id="{29A2D405-60D9-ADA6-2C7E-1DB63FC4269D}"/>
                  </a:ext>
                </a:extLst>
              </p:cNvPr>
              <p:cNvSpPr txBox="1">
                <a:spLocks noRot="1" noChangeAspect="1" noMove="1" noResize="1" noEditPoints="1" noAdjustHandles="1" noChangeArrowheads="1" noChangeShapeType="1" noTextEdit="1"/>
              </p:cNvSpPr>
              <p:nvPr/>
            </p:nvSpPr>
            <p:spPr>
              <a:xfrm>
                <a:off x="1402466" y="5028479"/>
                <a:ext cx="3229837" cy="806118"/>
              </a:xfrm>
              <a:prstGeom prst="rect">
                <a:avLst/>
              </a:prstGeom>
              <a:blipFill>
                <a:blip r:embed="rId6"/>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1A31130B-DB9D-781D-4894-0E605DA31CBE}"/>
              </a:ext>
            </a:extLst>
          </p:cNvPr>
          <p:cNvSpPr txBox="1"/>
          <p:nvPr/>
        </p:nvSpPr>
        <p:spPr>
          <a:xfrm>
            <a:off x="610901" y="3618765"/>
            <a:ext cx="383438"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p>
        </p:txBody>
      </p:sp>
      <p:sp>
        <p:nvSpPr>
          <p:cNvPr id="16" name="TextBox 15">
            <a:extLst>
              <a:ext uri="{FF2B5EF4-FFF2-40B4-BE49-F238E27FC236}">
                <a16:creationId xmlns:a16="http://schemas.microsoft.com/office/drawing/2014/main" id="{7D1B1BD2-99D6-0F04-D85E-188C928C00DE}"/>
              </a:ext>
            </a:extLst>
          </p:cNvPr>
          <p:cNvSpPr txBox="1"/>
          <p:nvPr/>
        </p:nvSpPr>
        <p:spPr>
          <a:xfrm>
            <a:off x="610901" y="4374565"/>
            <a:ext cx="44755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ii) </a:t>
            </a:r>
          </a:p>
        </p:txBody>
      </p:sp>
      <p:sp>
        <p:nvSpPr>
          <p:cNvPr id="17" name="TextBox 16">
            <a:extLst>
              <a:ext uri="{FF2B5EF4-FFF2-40B4-BE49-F238E27FC236}">
                <a16:creationId xmlns:a16="http://schemas.microsoft.com/office/drawing/2014/main" id="{43ED90ED-4432-A323-8411-EAD8F72D56AD}"/>
              </a:ext>
            </a:extLst>
          </p:cNvPr>
          <p:cNvSpPr txBox="1"/>
          <p:nvPr/>
        </p:nvSpPr>
        <p:spPr>
          <a:xfrm>
            <a:off x="610901" y="5147501"/>
            <a:ext cx="51167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iii) </a:t>
            </a:r>
          </a:p>
        </p:txBody>
      </p:sp>
    </p:spTree>
    <p:extLst>
      <p:ext uri="{BB962C8B-B14F-4D97-AF65-F5344CB8AC3E}">
        <p14:creationId xmlns:p14="http://schemas.microsoft.com/office/powerpoint/2010/main" val="465361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23F9F-7D49-E144-FAED-3A8F61EF42C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664945F-0349-3F1B-7AFE-25A3C6DD7E6E}"/>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5)</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3A0C093-49B2-E7A6-0E4C-CB03F1543DEA}"/>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F00984A-15F0-C2D5-10E7-ED937C53AEE1}"/>
              </a:ext>
            </a:extLst>
          </p:cNvPr>
          <p:cNvSpPr txBox="1"/>
          <p:nvPr/>
        </p:nvSpPr>
        <p:spPr>
          <a:xfrm>
            <a:off x="108155" y="688709"/>
            <a:ext cx="1198224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We define the financial ratios given below (which are inspired from actual financial ratios) to serve as stand-in metrics to guide post-shock adjustments and assess the financial health of banks within the system.</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753F686-1EAE-0F19-97DD-B93BDC4167CD}"/>
              </a:ext>
            </a:extLst>
          </p:cNvPr>
          <p:cNvSpPr txBox="1"/>
          <p:nvPr/>
        </p:nvSpPr>
        <p:spPr>
          <a:xfrm>
            <a:off x="104874" y="1532867"/>
            <a:ext cx="11982246" cy="36933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The Liquidity Ratio is defined as the ratio of Short-Term Assets (STA) to Total Liabilities (L)</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0100AEB-1A03-A672-0E56-333698F10EF2}"/>
                  </a:ext>
                </a:extLst>
              </p:cNvPr>
              <p:cNvSpPr txBox="1"/>
              <p:nvPr/>
            </p:nvSpPr>
            <p:spPr>
              <a:xfrm>
                <a:off x="4363718" y="1984566"/>
                <a:ext cx="2753359" cy="8030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1" smtClean="0">
                          <a:latin typeface="Cambria Math" panose="02040503050406030204" pitchFamily="18" charset="0"/>
                        </a:rPr>
                        <m:t>i</m:t>
                      </m:r>
                      <m:r>
                        <a:rPr lang="en-US" b="0" i="1" smtClean="0">
                          <a:latin typeface="Cambria Math" panose="02040503050406030204" pitchFamily="18" charset="0"/>
                        </a:rPr>
                        <m:t>) </m:t>
                      </m:r>
                      <m:r>
                        <a:rPr lang="en-IN" i="1" smtClean="0">
                          <a:latin typeface="Cambria Math" panose="02040503050406030204" pitchFamily="18" charset="0"/>
                        </a:rPr>
                        <m:t>𝐿𝑖𝑞</m:t>
                      </m:r>
                      <m:r>
                        <a:rPr lang="en-IN" i="1" smtClean="0">
                          <a:latin typeface="Cambria Math" panose="02040503050406030204" pitchFamily="18" charset="0"/>
                        </a:rPr>
                        <m:t>=</m:t>
                      </m:r>
                      <m:f>
                        <m:fPr>
                          <m:ctrlPr>
                            <a:rPr lang="en-IN" i="1">
                              <a:latin typeface="Cambria Math" panose="02040503050406030204" pitchFamily="18" charset="0"/>
                            </a:rPr>
                          </m:ctrlPr>
                        </m:fPr>
                        <m:num>
                          <m:r>
                            <m:rPr>
                              <m:nor/>
                            </m:rPr>
                            <a:rPr lang="en-IN" i="0">
                              <a:latin typeface="Cambria Math" panose="02040503050406030204" pitchFamily="18" charset="0"/>
                            </a:rPr>
                            <m:t>Short</m:t>
                          </m:r>
                          <m:r>
                            <m:rPr>
                              <m:nor/>
                            </m:rPr>
                            <a:rPr lang="en-US" b="0" i="0" smtClean="0">
                              <a:latin typeface="Cambria Math" panose="02040503050406030204" pitchFamily="18" charset="0"/>
                            </a:rPr>
                            <m:t>-</m:t>
                          </m:r>
                          <m:r>
                            <m:rPr>
                              <m:nor/>
                            </m:rPr>
                            <a:rPr lang="en-IN" i="0">
                              <a:latin typeface="Cambria Math" panose="02040503050406030204" pitchFamily="18" charset="0"/>
                            </a:rPr>
                            <m:t>Term</m:t>
                          </m:r>
                          <m:r>
                            <m:rPr>
                              <m:nor/>
                            </m:rPr>
                            <a:rPr lang="en-IN" i="0">
                              <a:latin typeface="Cambria Math" panose="02040503050406030204" pitchFamily="18" charset="0"/>
                            </a:rPr>
                            <m:t> </m:t>
                          </m:r>
                          <m:r>
                            <m:rPr>
                              <m:nor/>
                            </m:rPr>
                            <a:rPr lang="en-IN" i="0">
                              <a:latin typeface="Cambria Math" panose="02040503050406030204" pitchFamily="18" charset="0"/>
                            </a:rPr>
                            <m:t>Assets</m:t>
                          </m:r>
                        </m:num>
                        <m:den>
                          <m:r>
                            <m:rPr>
                              <m:nor/>
                            </m:rPr>
                            <a:rPr lang="en-IN" i="0">
                              <a:latin typeface="Cambria Math" panose="02040503050406030204" pitchFamily="18" charset="0"/>
                            </a:rPr>
                            <m:t>Total</m:t>
                          </m:r>
                          <m:r>
                            <m:rPr>
                              <m:nor/>
                            </m:rPr>
                            <a:rPr lang="en-IN" i="0">
                              <a:latin typeface="Cambria Math" panose="02040503050406030204" pitchFamily="18" charset="0"/>
                            </a:rPr>
                            <m:t> </m:t>
                          </m:r>
                          <m:r>
                            <m:rPr>
                              <m:nor/>
                            </m:rPr>
                            <a:rPr lang="en-IN" i="0">
                              <a:latin typeface="Cambria Math" panose="02040503050406030204" pitchFamily="18" charset="0"/>
                            </a:rPr>
                            <m:t>Liabilities</m:t>
                          </m:r>
                        </m:den>
                      </m:f>
                    </m:oMath>
                  </m:oMathPara>
                </a14:m>
                <a:endParaRPr lang="en-US" dirty="0"/>
              </a:p>
              <a:p>
                <a:endParaRPr lang="en-IN" dirty="0"/>
              </a:p>
            </p:txBody>
          </p:sp>
        </mc:Choice>
        <mc:Fallback>
          <p:sp>
            <p:nvSpPr>
              <p:cNvPr id="4" name="TextBox 3">
                <a:extLst>
                  <a:ext uri="{FF2B5EF4-FFF2-40B4-BE49-F238E27FC236}">
                    <a16:creationId xmlns:a16="http://schemas.microsoft.com/office/drawing/2014/main" id="{40100AEB-1A03-A672-0E56-333698F10EF2}"/>
                  </a:ext>
                </a:extLst>
              </p:cNvPr>
              <p:cNvSpPr txBox="1">
                <a:spLocks noRot="1" noChangeAspect="1" noMove="1" noResize="1" noEditPoints="1" noAdjustHandles="1" noChangeArrowheads="1" noChangeShapeType="1" noTextEdit="1"/>
              </p:cNvSpPr>
              <p:nvPr/>
            </p:nvSpPr>
            <p:spPr>
              <a:xfrm>
                <a:off x="4363718" y="1984566"/>
                <a:ext cx="2753359" cy="80304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A173D16-1DB4-D706-5C11-AD5ABAD5BBD8}"/>
                  </a:ext>
                </a:extLst>
              </p:cNvPr>
              <p:cNvSpPr txBox="1"/>
              <p:nvPr/>
            </p:nvSpPr>
            <p:spPr>
              <a:xfrm>
                <a:off x="4363718" y="3210377"/>
                <a:ext cx="3464559" cy="726994"/>
              </a:xfrm>
              <a:prstGeom prst="rect">
                <a:avLst/>
              </a:prstGeom>
              <a:noFill/>
            </p:spPr>
            <p:txBody>
              <a:bodyPr wrap="square" lIns="0" tIns="0" rIns="0" bIns="0" rtlCol="0">
                <a:spAutoFit/>
              </a:bodyPr>
              <a:lstStyle/>
              <a:p>
                <a:r>
                  <a:rPr lang="en-IN" dirty="0">
                    <a:latin typeface="Times New Roman" panose="02020603050405020304" pitchFamily="18" charset="0"/>
                    <a:cs typeface="Times New Roman" panose="02020603050405020304" pitchFamily="18" charset="0"/>
                  </a:rPr>
                  <a:t>ii) </a:t>
                </a:r>
                <a14:m>
                  <m:oMath xmlns:m="http://schemas.openxmlformats.org/officeDocument/2006/math">
                    <m:r>
                      <a:rPr lang="en-IN" i="1" smtClean="0">
                        <a:latin typeface="Cambria Math" panose="02040503050406030204" pitchFamily="18" charset="0"/>
                      </a:rPr>
                      <m:t>𝐿𝑒𝑣</m:t>
                    </m:r>
                    <m:r>
                      <a:rPr lang="en-IN" i="1" smtClean="0">
                        <a:latin typeface="Cambria Math" panose="02040503050406030204" pitchFamily="18" charset="0"/>
                      </a:rPr>
                      <m:t>=</m:t>
                    </m:r>
                    <m:f>
                      <m:fPr>
                        <m:ctrlPr>
                          <a:rPr lang="en-IN" i="1">
                            <a:latin typeface="Cambria Math" panose="02040503050406030204" pitchFamily="18" charset="0"/>
                          </a:rPr>
                        </m:ctrlPr>
                      </m:fPr>
                      <m:num>
                        <m:r>
                          <m:rPr>
                            <m:nor/>
                          </m:rPr>
                          <a:rPr lang="en-IN" i="0">
                            <a:latin typeface="Cambria Math" panose="02040503050406030204" pitchFamily="18" charset="0"/>
                          </a:rPr>
                          <m:t>Total</m:t>
                        </m:r>
                        <m:r>
                          <m:rPr>
                            <m:nor/>
                          </m:rPr>
                          <a:rPr lang="en-IN" i="0">
                            <a:latin typeface="Cambria Math" panose="02040503050406030204" pitchFamily="18" charset="0"/>
                          </a:rPr>
                          <m:t> </m:t>
                        </m:r>
                        <m:r>
                          <m:rPr>
                            <m:nor/>
                          </m:rPr>
                          <a:rPr lang="en-IN" i="0">
                            <a:latin typeface="Cambria Math" panose="02040503050406030204" pitchFamily="18" charset="0"/>
                          </a:rPr>
                          <m:t>Debt</m:t>
                        </m:r>
                      </m:num>
                      <m:den>
                        <m:r>
                          <m:rPr>
                            <m:nor/>
                          </m:rPr>
                          <a:rPr lang="en-IN" i="0">
                            <a:latin typeface="Cambria Math" panose="02040503050406030204" pitchFamily="18" charset="0"/>
                          </a:rPr>
                          <m:t>Shareholder</m:t>
                        </m:r>
                        <m:r>
                          <m:rPr>
                            <m:nor/>
                          </m:rPr>
                          <a:rPr lang="en-IN" i="0">
                            <a:latin typeface="Cambria Math" panose="02040503050406030204" pitchFamily="18" charset="0"/>
                          </a:rPr>
                          <m:t> </m:t>
                        </m:r>
                        <m:r>
                          <m:rPr>
                            <m:nor/>
                          </m:rPr>
                          <a:rPr lang="en-IN" i="0">
                            <a:latin typeface="Cambria Math" panose="02040503050406030204" pitchFamily="18" charset="0"/>
                          </a:rPr>
                          <m:t>Funds</m:t>
                        </m:r>
                      </m:den>
                    </m:f>
                  </m:oMath>
                </a14:m>
                <a:endParaRPr lang="en-US" dirty="0"/>
              </a:p>
              <a:p>
                <a:endParaRPr lang="en-IN" dirty="0"/>
              </a:p>
            </p:txBody>
          </p:sp>
        </mc:Choice>
        <mc:Fallback xmlns="">
          <p:sp>
            <p:nvSpPr>
              <p:cNvPr id="6" name="TextBox 5">
                <a:extLst>
                  <a:ext uri="{FF2B5EF4-FFF2-40B4-BE49-F238E27FC236}">
                    <a16:creationId xmlns:a16="http://schemas.microsoft.com/office/drawing/2014/main" id="{1A173D16-1DB4-D706-5C11-AD5ABAD5BBD8}"/>
                  </a:ext>
                </a:extLst>
              </p:cNvPr>
              <p:cNvSpPr txBox="1">
                <a:spLocks noRot="1" noChangeAspect="1" noMove="1" noResize="1" noEditPoints="1" noAdjustHandles="1" noChangeArrowheads="1" noChangeShapeType="1" noTextEdit="1"/>
              </p:cNvSpPr>
              <p:nvPr/>
            </p:nvSpPr>
            <p:spPr>
              <a:xfrm>
                <a:off x="4363718" y="3210377"/>
                <a:ext cx="3464559" cy="726994"/>
              </a:xfrm>
              <a:prstGeom prst="rect">
                <a:avLst/>
              </a:prstGeom>
              <a:blipFill>
                <a:blip r:embed="rId4"/>
                <a:stretch>
                  <a:fillRect l="-42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5B61A27-1EC6-B57B-872C-AE56ACA5A996}"/>
                  </a:ext>
                </a:extLst>
              </p:cNvPr>
              <p:cNvSpPr txBox="1"/>
              <p:nvPr/>
            </p:nvSpPr>
            <p:spPr>
              <a:xfrm>
                <a:off x="4363718" y="4480575"/>
                <a:ext cx="3464559" cy="728661"/>
              </a:xfrm>
              <a:prstGeom prst="rect">
                <a:avLst/>
              </a:prstGeom>
              <a:noFill/>
            </p:spPr>
            <p:txBody>
              <a:bodyPr wrap="square" lIns="0" tIns="0" rIns="0" bIns="0" rtlCol="0">
                <a:spAutoFit/>
              </a:bodyPr>
              <a:lstStyle/>
              <a:p>
                <a:r>
                  <a:rPr lang="en-IN" dirty="0">
                    <a:latin typeface="Times New Roman" panose="02020603050405020304" pitchFamily="18" charset="0"/>
                    <a:cs typeface="Times New Roman" panose="02020603050405020304" pitchFamily="18" charset="0"/>
                  </a:rPr>
                  <a:t>iii) </a:t>
                </a:r>
                <a14:m>
                  <m:oMath xmlns:m="http://schemas.openxmlformats.org/officeDocument/2006/math">
                    <m:r>
                      <a:rPr lang="en-IN" i="1" smtClean="0">
                        <a:latin typeface="Cambria Math" panose="02040503050406030204" pitchFamily="18" charset="0"/>
                      </a:rPr>
                      <m:t>𝐿𝐷𝑅</m:t>
                    </m:r>
                    <m:r>
                      <a:rPr lang="en-IN" i="1" smtClean="0">
                        <a:latin typeface="Cambria Math" panose="02040503050406030204" pitchFamily="18" charset="0"/>
                      </a:rPr>
                      <m:t>=</m:t>
                    </m:r>
                    <m:f>
                      <m:fPr>
                        <m:ctrlPr>
                          <a:rPr lang="en-IN" i="1">
                            <a:latin typeface="Cambria Math" panose="02040503050406030204" pitchFamily="18" charset="0"/>
                          </a:rPr>
                        </m:ctrlPr>
                      </m:fPr>
                      <m:num>
                        <m:r>
                          <m:rPr>
                            <m:nor/>
                          </m:rPr>
                          <a:rPr lang="en-IN" i="0">
                            <a:latin typeface="Cambria Math" panose="02040503050406030204" pitchFamily="18" charset="0"/>
                          </a:rPr>
                          <m:t>Total</m:t>
                        </m:r>
                        <m:r>
                          <m:rPr>
                            <m:nor/>
                          </m:rPr>
                          <a:rPr lang="en-IN" i="0">
                            <a:latin typeface="Cambria Math" panose="02040503050406030204" pitchFamily="18" charset="0"/>
                          </a:rPr>
                          <m:t> </m:t>
                        </m:r>
                        <m:r>
                          <m:rPr>
                            <m:nor/>
                          </m:rPr>
                          <a:rPr lang="en-IN" i="0">
                            <a:latin typeface="Cambria Math" panose="02040503050406030204" pitchFamily="18" charset="0"/>
                          </a:rPr>
                          <m:t>Advances</m:t>
                        </m:r>
                        <m:r>
                          <m:rPr>
                            <m:lit/>
                            <m:nor/>
                          </m:rPr>
                          <a:rPr lang="en-IN" i="0">
                            <a:latin typeface="Cambria Math" panose="02040503050406030204" pitchFamily="18" charset="0"/>
                          </a:rPr>
                          <m:t>/</m:t>
                        </m:r>
                        <m:r>
                          <m:rPr>
                            <m:nor/>
                          </m:rPr>
                          <a:rPr lang="en-IN" i="0">
                            <a:latin typeface="Cambria Math" panose="02040503050406030204" pitchFamily="18" charset="0"/>
                          </a:rPr>
                          <m:t>Loans</m:t>
                        </m:r>
                      </m:num>
                      <m:den>
                        <m:r>
                          <m:rPr>
                            <m:nor/>
                          </m:rPr>
                          <a:rPr lang="en-IN" i="0">
                            <a:latin typeface="Cambria Math" panose="02040503050406030204" pitchFamily="18" charset="0"/>
                          </a:rPr>
                          <m:t>Total</m:t>
                        </m:r>
                        <m:r>
                          <m:rPr>
                            <m:nor/>
                          </m:rPr>
                          <a:rPr lang="en-IN" i="0">
                            <a:latin typeface="Cambria Math" panose="02040503050406030204" pitchFamily="18" charset="0"/>
                          </a:rPr>
                          <m:t> </m:t>
                        </m:r>
                        <m:r>
                          <m:rPr>
                            <m:nor/>
                          </m:rPr>
                          <a:rPr lang="en-IN" i="0">
                            <a:latin typeface="Cambria Math" panose="02040503050406030204" pitchFamily="18" charset="0"/>
                          </a:rPr>
                          <m:t>Debt</m:t>
                        </m:r>
                      </m:den>
                    </m:f>
                  </m:oMath>
                </a14:m>
                <a:endParaRPr lang="en-US" dirty="0"/>
              </a:p>
              <a:p>
                <a:endParaRPr lang="en-IN" dirty="0"/>
              </a:p>
            </p:txBody>
          </p:sp>
        </mc:Choice>
        <mc:Fallback xmlns="">
          <p:sp>
            <p:nvSpPr>
              <p:cNvPr id="7" name="TextBox 6">
                <a:extLst>
                  <a:ext uri="{FF2B5EF4-FFF2-40B4-BE49-F238E27FC236}">
                    <a16:creationId xmlns:a16="http://schemas.microsoft.com/office/drawing/2014/main" id="{25B61A27-1EC6-B57B-872C-AE56ACA5A996}"/>
                  </a:ext>
                </a:extLst>
              </p:cNvPr>
              <p:cNvSpPr txBox="1">
                <a:spLocks noRot="1" noChangeAspect="1" noMove="1" noResize="1" noEditPoints="1" noAdjustHandles="1" noChangeArrowheads="1" noChangeShapeType="1" noTextEdit="1"/>
              </p:cNvSpPr>
              <p:nvPr/>
            </p:nvSpPr>
            <p:spPr>
              <a:xfrm>
                <a:off x="4363718" y="4480575"/>
                <a:ext cx="3464559" cy="728661"/>
              </a:xfrm>
              <a:prstGeom prst="rect">
                <a:avLst/>
              </a:prstGeom>
              <a:blipFill>
                <a:blip r:embed="rId5"/>
                <a:stretch>
                  <a:fillRect l="-4225"/>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F89254C9-86F5-BF27-9C57-3B5AD55E7EEC}"/>
              </a:ext>
            </a:extLst>
          </p:cNvPr>
          <p:cNvSpPr txBox="1"/>
          <p:nvPr/>
        </p:nvSpPr>
        <p:spPr>
          <a:xfrm>
            <a:off x="104874" y="2763056"/>
            <a:ext cx="1198224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ii) The Leverage Ratio is defined as the ratio of Total Debt (D) to Shareholder Funds (SHF)</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86C4EB5-A538-19C9-77DC-C3301AE61D28}"/>
              </a:ext>
            </a:extLst>
          </p:cNvPr>
          <p:cNvSpPr txBox="1"/>
          <p:nvPr/>
        </p:nvSpPr>
        <p:spPr>
          <a:xfrm>
            <a:off x="108154" y="4024307"/>
            <a:ext cx="11982246"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iii) The Loan to Debt Ratio is defined as the ratio of Total Loans (GA + ATB) to Total Debt (D)</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2FB14A6-F52E-7E5E-B059-F00C32033A41}"/>
              </a:ext>
            </a:extLst>
          </p:cNvPr>
          <p:cNvSpPr txBox="1"/>
          <p:nvPr/>
        </p:nvSpPr>
        <p:spPr>
          <a:xfrm>
            <a:off x="104874" y="5256089"/>
            <a:ext cx="11982246" cy="92333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Of the three ratios, the Liquidity Ratio (</a:t>
            </a:r>
            <a:r>
              <a:rPr lang="en-US" dirty="0" err="1">
                <a:latin typeface="Times New Roman" panose="02020603050405020304" pitchFamily="18" charset="0"/>
                <a:cs typeface="Times New Roman" panose="02020603050405020304" pitchFamily="18" charset="0"/>
              </a:rPr>
              <a:t>Liq</a:t>
            </a:r>
            <a:r>
              <a:rPr lang="en-US" dirty="0">
                <a:latin typeface="Times New Roman" panose="02020603050405020304" pitchFamily="18" charset="0"/>
                <a:cs typeface="Times New Roman" panose="02020603050405020304" pitchFamily="18" charset="0"/>
              </a:rPr>
              <a:t>) and Leverage Ratio (Lev) are used to restore balance between the asset and liability side following a perturbation, while the Loan to Debt Ratio (LDR) alongside Advances to Other Banks and Long-Term Assets are used as penalty measures to assess the state of a bank in the network.</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362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7BB2C-B696-85A6-AA85-E230C0BC1D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6122E38-8E52-016E-03A9-9B3FD0657D60}"/>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6)</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2287D33-37CA-AF68-9C7C-558C2F5EFC33}"/>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628C6EA-7AB8-6326-1919-ED997E3144CE}"/>
              </a:ext>
            </a:extLst>
          </p:cNvPr>
          <p:cNvPicPr>
            <a:picLocks noChangeAspect="1"/>
          </p:cNvPicPr>
          <p:nvPr/>
        </p:nvPicPr>
        <p:blipFill>
          <a:blip r:embed="rId3"/>
          <a:stretch>
            <a:fillRect/>
          </a:stretch>
        </p:blipFill>
        <p:spPr>
          <a:xfrm>
            <a:off x="1671802" y="3726251"/>
            <a:ext cx="8848387" cy="22853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C7742D40-FD55-4AA7-7426-9B5E2960FD4D}"/>
              </a:ext>
            </a:extLst>
          </p:cNvPr>
          <p:cNvSpPr txBox="1"/>
          <p:nvPr/>
        </p:nvSpPr>
        <p:spPr>
          <a:xfrm>
            <a:off x="4554291" y="6049028"/>
            <a:ext cx="308340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10: Risk Transfer Shock</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BFE8B7B-C9E9-0764-C618-8D8E888F7089}"/>
              </a:ext>
            </a:extLst>
          </p:cNvPr>
          <p:cNvSpPr txBox="1"/>
          <p:nvPr/>
        </p:nvSpPr>
        <p:spPr>
          <a:xfrm>
            <a:off x="104874" y="664424"/>
            <a:ext cx="11982246" cy="295106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Risk Transfer Shocks are used to simulate the collapse of an initial bank due to risky lending practices.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General Advances is reduced by a specific shock fraction.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resulting loss is first absorbed using standard provisions maintained for non-performing assets.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Any remaining loss is absorbed by shareholder funds, which might result in the bank becoming over-leveraged.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over-leveraged, the bank deleverages (by reducing excess debt) to meet the maximum allowable leverage limit.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restore balance between the asset and liability sides of the balance sheet, short-term assets are liquidated (while maintaining minimum liquidity), with any remaining adjustment met by making callbacks to other banks.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2631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7E8CC-3F97-B5C8-6ECF-246F55A9A9B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67D213A-3275-4568-4D73-BEEBF298A48C}"/>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7)</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FCBBE8D2-4EFF-1841-BF9A-8E686477FB4D}"/>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59FD0CD-459D-10C2-A782-8EBBD6ADF176}"/>
              </a:ext>
            </a:extLst>
          </p:cNvPr>
          <p:cNvPicPr>
            <a:picLocks/>
          </p:cNvPicPr>
          <p:nvPr/>
        </p:nvPicPr>
        <p:blipFill>
          <a:blip r:embed="rId3"/>
          <a:stretch>
            <a:fillRect/>
          </a:stretch>
        </p:blipFill>
        <p:spPr>
          <a:xfrm>
            <a:off x="1671600" y="3716951"/>
            <a:ext cx="8848800"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2739CAEC-B1F2-7189-C831-A3AF7C6567E7}"/>
              </a:ext>
            </a:extLst>
          </p:cNvPr>
          <p:cNvSpPr txBox="1"/>
          <p:nvPr/>
        </p:nvSpPr>
        <p:spPr>
          <a:xfrm>
            <a:off x="4895479" y="6041051"/>
            <a:ext cx="2401042"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11: Credit Shock</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E58C45-95F1-4D06-8BEE-81E840D00B82}"/>
              </a:ext>
            </a:extLst>
          </p:cNvPr>
          <p:cNvSpPr txBox="1"/>
          <p:nvPr/>
        </p:nvSpPr>
        <p:spPr>
          <a:xfrm>
            <a:off x="104874" y="664424"/>
            <a:ext cx="11982246" cy="295106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Credit Shocks are used to simulate global decline in the value of short-term assets (arises due to global market failures).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Short-term assets are reduced by a specific shock fraction for all banks in the network.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Resulting losses are absorbed by shareholder funds, which might result in the bank becoming over-leveraged.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over-leveraged, the bank deleverages (by reducing excess debt) to meet the maximum allowable leverage limit.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restore balance between the asset and liability sides of the balance sheet, short-term assets are liquidated (while maintaining minimum liquidity), with any remaining adjustment met by making callbacks to other banks.</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5428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3336A-0A67-BE27-0DFF-7105CBD9695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E2BEF9-0987-9723-3DED-EFD0DDA5030F}"/>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latin typeface="Times New Roman" panose="02020603050405020304" pitchFamily="18" charset="0"/>
                <a:cs typeface="Times New Roman" panose="02020603050405020304" pitchFamily="18" charset="0"/>
              </a:rPr>
              <a:t>Methodology (Slide 8)</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8E30568-862D-90DA-897E-197A8CFF504D}"/>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6F3FC70-94D5-60D8-F2D2-902D600C078E}"/>
              </a:ext>
            </a:extLst>
          </p:cNvPr>
          <p:cNvPicPr>
            <a:picLocks noChangeAspect="1"/>
          </p:cNvPicPr>
          <p:nvPr/>
        </p:nvPicPr>
        <p:blipFill>
          <a:blip r:embed="rId3"/>
          <a:stretch>
            <a:fillRect/>
          </a:stretch>
        </p:blipFill>
        <p:spPr>
          <a:xfrm>
            <a:off x="3090809" y="3695467"/>
            <a:ext cx="6010382" cy="2286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90864F06-1D87-89C5-5ACB-5C897D1263C7}"/>
              </a:ext>
            </a:extLst>
          </p:cNvPr>
          <p:cNvSpPr txBox="1"/>
          <p:nvPr/>
        </p:nvSpPr>
        <p:spPr>
          <a:xfrm>
            <a:off x="4795003" y="6030235"/>
            <a:ext cx="2601994"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12: Funding Shock</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577B57-FBC5-D875-FC88-BA96C33A6060}"/>
              </a:ext>
            </a:extLst>
          </p:cNvPr>
          <p:cNvSpPr txBox="1"/>
          <p:nvPr/>
        </p:nvSpPr>
        <p:spPr>
          <a:xfrm>
            <a:off x="104874" y="664424"/>
            <a:ext cx="11982246" cy="295106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Funding shocks are used to propagate the initial stress/shocks across the interbank network. When Bank A calls back the advances it has made to Bank B, Bank B is said to be experiencing a funding shock.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reduction in debt equal to the total value of callbacks experienced by the bank begins the process.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Affected banks restore balance by liquidating long-term assets and recalling interbank advances (in a 50/50 split).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Realizable value of long-term assets depends on bank state (100% when healthy and 75% when in crisis.).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Resulting losses are absorbed by shareholder funds (potentially causing the bank to be over-leveraged); this is then corrected through deleveraging and making callbacks to other banks, as described previously.</a:t>
            </a:r>
          </a:p>
        </p:txBody>
      </p:sp>
    </p:spTree>
    <p:extLst>
      <p:ext uri="{BB962C8B-B14F-4D97-AF65-F5344CB8AC3E}">
        <p14:creationId xmlns:p14="http://schemas.microsoft.com/office/powerpoint/2010/main" val="860872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3B6C-DDF6-C7A8-F11F-53EAB040F5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F1B2B22-F86F-213B-6C78-7A9187FC93E8}"/>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solidFill>
                  <a:schemeClr val="bg1"/>
                </a:solidFill>
                <a:latin typeface="Times New Roman" panose="02020603050405020304" pitchFamily="18" charset="0"/>
                <a:cs typeface="Times New Roman" panose="02020603050405020304" pitchFamily="18" charset="0"/>
              </a:rPr>
              <a:t>Results and Discussion (Slide 9)</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A2BE231-A41E-A61E-C98F-59E725A24E31}"/>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r>
              <a:rPr lang="en-US" sz="1600" dirty="0">
                <a:solidFill>
                  <a:schemeClr val="bg1"/>
                </a:solidFill>
                <a:latin typeface="Times New Roman" panose="02020603050405020304" pitchFamily="18" charset="0"/>
                <a:cs typeface="Times New Roman" panose="02020603050405020304" pitchFamily="18" charset="0"/>
              </a:rPr>
              <a:t>Times of India, </a:t>
            </a:r>
            <a:r>
              <a:rPr lang="en-US" sz="1600" i="1" dirty="0">
                <a:solidFill>
                  <a:schemeClr val="bg1"/>
                </a:solidFill>
                <a:latin typeface="Times New Roman" panose="02020603050405020304" pitchFamily="18" charset="0"/>
                <a:cs typeface="Times New Roman" panose="02020603050405020304" pitchFamily="18" charset="0"/>
              </a:rPr>
              <a:t>PNB fraud affects these banks too</a:t>
            </a:r>
            <a:r>
              <a:rPr lang="en-US" sz="1600" dirty="0">
                <a:solidFill>
                  <a:schemeClr val="bg1"/>
                </a:solidFill>
                <a:latin typeface="Times New Roman" panose="02020603050405020304" pitchFamily="18" charset="0"/>
                <a:cs typeface="Times New Roman" panose="02020603050405020304" pitchFamily="18" charset="0"/>
              </a:rPr>
              <a:t>, Feb 17, 2018</a:t>
            </a:r>
          </a:p>
        </p:txBody>
      </p:sp>
      <p:pic>
        <p:nvPicPr>
          <p:cNvPr id="3" name="Picture 2">
            <a:extLst>
              <a:ext uri="{FF2B5EF4-FFF2-40B4-BE49-F238E27FC236}">
                <a16:creationId xmlns:a16="http://schemas.microsoft.com/office/drawing/2014/main" id="{50AFB4F3-2F2A-7D24-6AE0-C989EEBD45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067" y="626162"/>
            <a:ext cx="6460033" cy="34784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a:extLst>
              <a:ext uri="{FF2B5EF4-FFF2-40B4-BE49-F238E27FC236}">
                <a16:creationId xmlns:a16="http://schemas.microsoft.com/office/drawing/2014/main" id="{34DDBE5A-5B8C-4BBA-93B4-616123DB0F4C}"/>
              </a:ext>
            </a:extLst>
          </p:cNvPr>
          <p:cNvSpPr txBox="1"/>
          <p:nvPr/>
        </p:nvSpPr>
        <p:spPr>
          <a:xfrm>
            <a:off x="6212301" y="4209692"/>
            <a:ext cx="5147563"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13: Simulating the PNB Scam using our model</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FF16344-23B0-6A32-3BCC-43B07E737C70}"/>
              </a:ext>
            </a:extLst>
          </p:cNvPr>
          <p:cNvSpPr txBox="1"/>
          <p:nvPr/>
        </p:nvSpPr>
        <p:spPr>
          <a:xfrm>
            <a:off x="81280" y="642724"/>
            <a:ext cx="5364480" cy="4243726"/>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Predicted Default Banks</a:t>
            </a:r>
            <a:r>
              <a:rPr lang="en-US" dirty="0">
                <a:latin typeface="Times New Roman" panose="02020603050405020304" pitchFamily="18" charset="0"/>
                <a:cs typeface="Times New Roman" panose="02020603050405020304" pitchFamily="18" charset="0"/>
              </a:rPr>
              <a:t>: Punjab National Bank, Canara Bank, Bank of Baroda, Axis Bank, State Bank of India, Federal Bank.</a:t>
            </a:r>
          </a:p>
          <a:p>
            <a:pPr>
              <a:lnSpc>
                <a:spcPct val="150000"/>
              </a:lnSpc>
            </a:pPr>
            <a:endParaRPr lang="en-US" sz="75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Predicted Banks in Crisis</a:t>
            </a:r>
            <a:r>
              <a:rPr lang="en-US" dirty="0">
                <a:latin typeface="Times New Roman" panose="02020603050405020304" pitchFamily="18" charset="0"/>
                <a:cs typeface="Times New Roman" panose="02020603050405020304" pitchFamily="18" charset="0"/>
              </a:rPr>
              <a:t>: ICICI Bank, Kotak Mahindra Bank, IDFC Bank, YES Bank.</a:t>
            </a:r>
          </a:p>
          <a:p>
            <a:pPr>
              <a:lnSpc>
                <a:spcPct val="150000"/>
              </a:lnSpc>
            </a:pPr>
            <a:endParaRPr lang="en-US" sz="75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Official reports and newspaper articles indicate that the banks affected by the scam included Punjab National Bank, Canara Bank, Axis Bank, and State Bank of India.</a:t>
            </a:r>
          </a:p>
        </p:txBody>
      </p:sp>
      <p:sp>
        <p:nvSpPr>
          <p:cNvPr id="10" name="TextBox 9">
            <a:extLst>
              <a:ext uri="{FF2B5EF4-FFF2-40B4-BE49-F238E27FC236}">
                <a16:creationId xmlns:a16="http://schemas.microsoft.com/office/drawing/2014/main" id="{012345D0-E650-A718-7D1B-EBBE4CA87DA1}"/>
              </a:ext>
            </a:extLst>
          </p:cNvPr>
          <p:cNvSpPr txBox="1"/>
          <p:nvPr/>
        </p:nvSpPr>
        <p:spPr>
          <a:xfrm>
            <a:off x="91112" y="4913189"/>
            <a:ext cx="11934820" cy="1289071"/>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The model accurately identifies several affected banks; however, it appears to overestimate the severity of impact for some institutions, and seems to be making a couple of erroneous predictions.</a:t>
            </a:r>
          </a:p>
          <a:p>
            <a:pPr>
              <a:lnSpc>
                <a:spcPct val="150000"/>
              </a:lnSpc>
            </a:pPr>
            <a:r>
              <a:rPr lang="en-US" b="1" dirty="0">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Allahabad Bank and Union Bank of India were also impacted, but are excluded from the scope of this model.</a:t>
            </a:r>
          </a:p>
        </p:txBody>
      </p:sp>
    </p:spTree>
    <p:extLst>
      <p:ext uri="{BB962C8B-B14F-4D97-AF65-F5344CB8AC3E}">
        <p14:creationId xmlns:p14="http://schemas.microsoft.com/office/powerpoint/2010/main" val="1852873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486A5-1BA1-89F6-EC47-73E0DFE8E93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6377AE1-3D5B-DFA2-A6F8-F98016BEC698}"/>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solidFill>
                  <a:schemeClr val="bg1"/>
                </a:solidFill>
                <a:latin typeface="Times New Roman" panose="02020603050405020304" pitchFamily="18" charset="0"/>
                <a:cs typeface="Times New Roman" panose="02020603050405020304" pitchFamily="18" charset="0"/>
              </a:rPr>
              <a:t>Results and Discussion (Slide 10)</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89095B50-D620-2AD4-8465-E6D234CA8294}"/>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r>
              <a:rPr lang="en-US" sz="1600" dirty="0">
                <a:solidFill>
                  <a:schemeClr val="bg1"/>
                </a:solidFill>
                <a:latin typeface="Times New Roman" panose="02020603050405020304" pitchFamily="18" charset="0"/>
                <a:cs typeface="Times New Roman" panose="02020603050405020304" pitchFamily="18" charset="0"/>
              </a:rPr>
              <a:t>Financial Express, </a:t>
            </a:r>
            <a:r>
              <a:rPr lang="en-US" sz="1600" i="1" dirty="0">
                <a:solidFill>
                  <a:schemeClr val="bg1"/>
                </a:solidFill>
                <a:latin typeface="Times New Roman" panose="02020603050405020304" pitchFamily="18" charset="0"/>
                <a:cs typeface="Times New Roman" panose="02020603050405020304" pitchFamily="18" charset="0"/>
              </a:rPr>
              <a:t>PNB, SBI among worst hit PSU-banks by bad loans to top 50 </a:t>
            </a:r>
            <a:r>
              <a:rPr lang="en-US" sz="1600" i="1" dirty="0" err="1">
                <a:solidFill>
                  <a:schemeClr val="bg1"/>
                </a:solidFill>
                <a:latin typeface="Times New Roman" panose="02020603050405020304" pitchFamily="18" charset="0"/>
                <a:cs typeface="Times New Roman" panose="02020603050405020304" pitchFamily="18" charset="0"/>
              </a:rPr>
              <a:t>wilful</a:t>
            </a:r>
            <a:r>
              <a:rPr lang="en-US" sz="1600" i="1" dirty="0">
                <a:solidFill>
                  <a:schemeClr val="bg1"/>
                </a:solidFill>
                <a:latin typeface="Times New Roman" panose="02020603050405020304" pitchFamily="18" charset="0"/>
                <a:cs typeface="Times New Roman" panose="02020603050405020304" pitchFamily="18" charset="0"/>
              </a:rPr>
              <a:t> defaulters, </a:t>
            </a:r>
            <a:r>
              <a:rPr lang="en-US" sz="1600" dirty="0">
                <a:solidFill>
                  <a:schemeClr val="bg1"/>
                </a:solidFill>
                <a:latin typeface="Times New Roman" panose="02020603050405020304" pitchFamily="18" charset="0"/>
                <a:cs typeface="Times New Roman" panose="02020603050405020304" pitchFamily="18" charset="0"/>
              </a:rPr>
              <a:t>March 16, 2020</a:t>
            </a:r>
          </a:p>
        </p:txBody>
      </p:sp>
      <p:pic>
        <p:nvPicPr>
          <p:cNvPr id="2" name="Picture 1">
            <a:extLst>
              <a:ext uri="{FF2B5EF4-FFF2-40B4-BE49-F238E27FC236}">
                <a16:creationId xmlns:a16="http://schemas.microsoft.com/office/drawing/2014/main" id="{8AE5F807-EFC0-7153-F3F2-98F7027C5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6067" y="631830"/>
            <a:ext cx="6462000" cy="34795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a:extLst>
              <a:ext uri="{FF2B5EF4-FFF2-40B4-BE49-F238E27FC236}">
                <a16:creationId xmlns:a16="http://schemas.microsoft.com/office/drawing/2014/main" id="{E2562593-929D-C040-2614-8BA20E004CF9}"/>
              </a:ext>
            </a:extLst>
          </p:cNvPr>
          <p:cNvSpPr txBox="1"/>
          <p:nvPr/>
        </p:nvSpPr>
        <p:spPr>
          <a:xfrm>
            <a:off x="5919423" y="4222089"/>
            <a:ext cx="573528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Figure 14: Simulating the YES Bank Scam using our model</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FC8E00-76D0-0755-B23F-975034FD6AA3}"/>
              </a:ext>
            </a:extLst>
          </p:cNvPr>
          <p:cNvSpPr txBox="1"/>
          <p:nvPr/>
        </p:nvSpPr>
        <p:spPr>
          <a:xfrm>
            <a:off x="81280" y="642724"/>
            <a:ext cx="5364480" cy="4128310"/>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Predicted Default Banks</a:t>
            </a:r>
            <a:r>
              <a:rPr lang="en-US" dirty="0">
                <a:latin typeface="Times New Roman" panose="02020603050405020304" pitchFamily="18" charset="0"/>
                <a:cs typeface="Times New Roman" panose="02020603050405020304" pitchFamily="18" charset="0"/>
              </a:rPr>
              <a:t>: Punjab National Bank, Bank of Baroda, Axis Bank, State Bank of India, IDFC Bank, YES Bank.</a:t>
            </a:r>
          </a:p>
          <a:p>
            <a:pPr>
              <a:lnSpc>
                <a:spcPct val="150000"/>
              </a:lnSpc>
            </a:pPr>
            <a:endParaRPr lang="en-US" sz="75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Predicted Banks in Crisis</a:t>
            </a:r>
            <a:r>
              <a:rPr lang="en-US" dirty="0">
                <a:latin typeface="Times New Roman" panose="02020603050405020304" pitchFamily="18" charset="0"/>
                <a:cs typeface="Times New Roman" panose="02020603050405020304" pitchFamily="18" charset="0"/>
              </a:rPr>
              <a:t>: ICICI Bank, IndusInd Bank,  Kotak Mahindra Bank, Federal Bank.</a:t>
            </a:r>
          </a:p>
          <a:p>
            <a:pPr>
              <a:lnSpc>
                <a:spcPct val="150000"/>
              </a:lnSpc>
            </a:pPr>
            <a:endParaRPr lang="en-US" sz="75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In 2020 both the YES Bank crisis (Risk Transfer shock) and the COVID-19 pandemic (Credit shock) took place. Consequently, most reports are unable to clearly attribute banking system failures to a single trigger.</a:t>
            </a:r>
          </a:p>
        </p:txBody>
      </p:sp>
      <p:sp>
        <p:nvSpPr>
          <p:cNvPr id="7" name="TextBox 6">
            <a:extLst>
              <a:ext uri="{FF2B5EF4-FFF2-40B4-BE49-F238E27FC236}">
                <a16:creationId xmlns:a16="http://schemas.microsoft.com/office/drawing/2014/main" id="{3E8F6B60-AF1B-8FA5-918B-826209DDD87F}"/>
              </a:ext>
            </a:extLst>
          </p:cNvPr>
          <p:cNvSpPr txBox="1"/>
          <p:nvPr/>
        </p:nvSpPr>
        <p:spPr>
          <a:xfrm>
            <a:off x="81280" y="4913189"/>
            <a:ext cx="11934820" cy="1289071"/>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From this, it is evident that PNB, SBI, Central Bank of India, Bank of Baroda, and Canara Bank were the public sector banks most significantly affected, while Axis Bank and IDBI Bank were among the impacted private sector banks; however, the extent of damage remains uncertain (different sources cite different figures).</a:t>
            </a:r>
          </a:p>
        </p:txBody>
      </p:sp>
    </p:spTree>
    <p:extLst>
      <p:ext uri="{BB962C8B-B14F-4D97-AF65-F5344CB8AC3E}">
        <p14:creationId xmlns:p14="http://schemas.microsoft.com/office/powerpoint/2010/main" val="2853912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F479B-1B62-25C6-714E-B02FBCA56FD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B505008-373B-1D9B-BC29-5BDF23CC45FB}"/>
              </a:ext>
            </a:extLst>
          </p:cNvPr>
          <p:cNvSpPr/>
          <p:nvPr/>
        </p:nvSpPr>
        <p:spPr>
          <a:xfrm>
            <a:off x="0" y="0"/>
            <a:ext cx="12192000" cy="521110"/>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000" b="1" dirty="0">
                <a:solidFill>
                  <a:schemeClr val="bg1"/>
                </a:solidFill>
                <a:latin typeface="Times New Roman" panose="02020603050405020304" pitchFamily="18" charset="0"/>
                <a:cs typeface="Times New Roman" panose="02020603050405020304" pitchFamily="18" charset="0"/>
              </a:rPr>
              <a:t>Conclusion (Slide 11)</a:t>
            </a:r>
            <a:endParaRPr lang="en-IN" sz="3000" b="1"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E1B8F9F1-4CF0-86D8-79D6-0139C7D24684}"/>
              </a:ext>
            </a:extLst>
          </p:cNvPr>
          <p:cNvSpPr/>
          <p:nvPr/>
        </p:nvSpPr>
        <p:spPr>
          <a:xfrm>
            <a:off x="0" y="6339535"/>
            <a:ext cx="12192000" cy="556711"/>
          </a:xfrm>
          <a:prstGeom prst="rect">
            <a:avLst/>
          </a:prstGeom>
          <a:solidFill>
            <a:srgbClr val="00206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marL="90000" algn="ct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E5BFD23-17B9-DAFD-024E-B1151545CD35}"/>
              </a:ext>
            </a:extLst>
          </p:cNvPr>
          <p:cNvSpPr txBox="1"/>
          <p:nvPr/>
        </p:nvSpPr>
        <p:spPr>
          <a:xfrm>
            <a:off x="96520" y="642724"/>
            <a:ext cx="11998960" cy="465922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As shown in Slides 9 and 10, the model is able to largely predict which banks are likely to fail, and its outcomes align reasonably well with observed reality. This suggests that a system-specific, balance sheet-based network analysis, incorporating realistic bank structures and rules, provides more meaningful insights than a generic or simplified balance sheet-based model.</a:t>
            </a:r>
          </a:p>
          <a:p>
            <a:pPr>
              <a:lnSpc>
                <a:spcPct val="150000"/>
              </a:lnSpc>
            </a:pPr>
            <a:endParaRPr lang="en-US" sz="10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However, the model has notable limitations. It tends to produce erroneous predictions for smaller banks such as Federal Bank and Bank of Baroda, primarily due to the disproportionate ratio between their BANKNIFTY index weights and their total asset or liability values. As a result, exposures to affected banks may be overestimated, leading to inaccuracies in predictions.</a:t>
            </a:r>
          </a:p>
          <a:p>
            <a:pPr>
              <a:lnSpc>
                <a:spcPct val="150000"/>
              </a:lnSpc>
            </a:pPr>
            <a:r>
              <a:rPr lang="en-US" dirty="0">
                <a:latin typeface="Times New Roman" panose="02020603050405020304" pitchFamily="18" charset="0"/>
                <a:cs typeface="Times New Roman" panose="02020603050405020304" pitchFamily="18" charset="0"/>
              </a:rPr>
              <a:t>In events such as the PNB scam of 2018, banks outside the scope of the model, including Allahabad Bank and Union Bank of India, were also impacted. These secondary effects are not captured within the current framework.</a:t>
            </a:r>
          </a:p>
          <a:p>
            <a:pPr>
              <a:lnSpc>
                <a:spcPct val="150000"/>
              </a:lnSpc>
            </a:pPr>
            <a:endParaRPr lang="en-US" sz="10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Accordingly, the results should be interpreted with these limitations in mind. The model’s blind spots can be addressed by using its results in conjunction with the model created by Jorge A Chan-Lau to obtain more accurate and realistic insights.</a:t>
            </a:r>
          </a:p>
        </p:txBody>
      </p:sp>
      <p:sp>
        <p:nvSpPr>
          <p:cNvPr id="4" name="TextBox 3">
            <a:extLst>
              <a:ext uri="{FF2B5EF4-FFF2-40B4-BE49-F238E27FC236}">
                <a16:creationId xmlns:a16="http://schemas.microsoft.com/office/drawing/2014/main" id="{5532B259-0389-8B38-2DB9-A6E3935F4AA9}"/>
              </a:ext>
            </a:extLst>
          </p:cNvPr>
          <p:cNvSpPr txBox="1"/>
          <p:nvPr/>
        </p:nvSpPr>
        <p:spPr>
          <a:xfrm>
            <a:off x="4708422" y="5513417"/>
            <a:ext cx="2775155" cy="701859"/>
          </a:xfrm>
          <a:prstGeom prst="rect">
            <a:avLst/>
          </a:prstGeom>
          <a:noFill/>
        </p:spPr>
        <p:txBody>
          <a:bodyPr wrap="square">
            <a:spAutoFit/>
          </a:bodyPr>
          <a:lstStyle/>
          <a:p>
            <a:pPr algn="ctr">
              <a:lnSpc>
                <a:spcPct val="150000"/>
              </a:lnSpc>
            </a:pPr>
            <a:r>
              <a:rPr lang="en-US" sz="3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2080573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1832</TotalTime>
  <Words>1781</Words>
  <Application>Microsoft Office PowerPoint</Application>
  <PresentationFormat>Widescreen</PresentationFormat>
  <Paragraphs>116</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Varunkumar Krishnakumar</dc:creator>
  <cp:lastModifiedBy>Varunkumar Krishnakumar</cp:lastModifiedBy>
  <cp:revision>241</cp:revision>
  <dcterms:created xsi:type="dcterms:W3CDTF">2026-02-03T15:39:48Z</dcterms:created>
  <dcterms:modified xsi:type="dcterms:W3CDTF">2026-04-29T04:09:06Z</dcterms:modified>
</cp:coreProperties>
</file>